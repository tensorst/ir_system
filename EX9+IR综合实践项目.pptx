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8" r:id="rId3"/>
    <p:sldId id="260" r:id="rId4"/>
    <p:sldId id="261" r:id="rId5"/>
    <p:sldId id="262" r:id="rId6"/>
    <p:sldId id="269" r:id="rId7"/>
    <p:sldId id="264" r:id="rId8"/>
    <p:sldId id="263" r:id="rId9"/>
    <p:sldId id="267" r:id="rId10"/>
    <p:sldId id="265" r:id="rId11"/>
    <p:sldId id="259"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384164-B815-42BC-97B1-531C3F1FED8E}" type="datetimeFigureOut">
              <a:rPr lang="zh-CN" altLang="en-US" smtClean="0"/>
              <a:t>2026/5/26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B96A4-4525-492F-AD8F-225F615EE5E1}" type="slidenum">
              <a:rPr lang="zh-CN" altLang="en-US" smtClean="0"/>
              <a:t>‹#›</a:t>
            </a:fld>
            <a:endParaRPr lang="zh-CN" altLang="en-US"/>
          </a:p>
        </p:txBody>
      </p:sp>
    </p:spTree>
    <p:extLst>
      <p:ext uri="{BB962C8B-B14F-4D97-AF65-F5344CB8AC3E}">
        <p14:creationId xmlns:p14="http://schemas.microsoft.com/office/powerpoint/2010/main" val="1039895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1B96A4-4525-492F-AD8F-225F615EE5E1}" type="slidenum">
              <a:rPr lang="zh-CN" altLang="en-US" smtClean="0"/>
              <a:t>5</a:t>
            </a:fld>
            <a:endParaRPr lang="zh-CN" altLang="en-US"/>
          </a:p>
        </p:txBody>
      </p:sp>
    </p:spTree>
    <p:extLst>
      <p:ext uri="{BB962C8B-B14F-4D97-AF65-F5344CB8AC3E}">
        <p14:creationId xmlns:p14="http://schemas.microsoft.com/office/powerpoint/2010/main" val="3749769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F1B96A4-4525-492F-AD8F-225F615EE5E1}" type="slidenum">
              <a:rPr lang="zh-CN" altLang="en-US" smtClean="0"/>
              <a:t>10</a:t>
            </a:fld>
            <a:endParaRPr lang="zh-CN" altLang="en-US"/>
          </a:p>
        </p:txBody>
      </p:sp>
    </p:spTree>
    <p:extLst>
      <p:ext uri="{BB962C8B-B14F-4D97-AF65-F5344CB8AC3E}">
        <p14:creationId xmlns:p14="http://schemas.microsoft.com/office/powerpoint/2010/main" val="2517690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7B9BE853-D778-4A71-ADBB-C749C166C8F1}" type="datetimeFigureOut">
              <a:rPr lang="zh-CN" altLang="en-US" smtClean="0"/>
              <a:t>2026/5/26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A48CD4C-17BC-4203-8828-A0C74F2E29F4}" type="slidenum">
              <a:rPr lang="zh-CN" altLang="en-US" smtClean="0"/>
              <a:t>‹#›</a:t>
            </a:fld>
            <a:endParaRPr lang="zh-CN" altLang="en-US"/>
          </a:p>
        </p:txBody>
      </p:sp>
    </p:spTree>
    <p:extLst>
      <p:ext uri="{BB962C8B-B14F-4D97-AF65-F5344CB8AC3E}">
        <p14:creationId xmlns:p14="http://schemas.microsoft.com/office/powerpoint/2010/main" val="265549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B9BE853-D778-4A71-ADBB-C749C166C8F1}" type="datetimeFigureOut">
              <a:rPr lang="zh-CN" altLang="en-US" smtClean="0"/>
              <a:t>2026/5/26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A48CD4C-17BC-4203-8828-A0C74F2E29F4}" type="slidenum">
              <a:rPr lang="zh-CN" altLang="en-US" smtClean="0"/>
              <a:t>‹#›</a:t>
            </a:fld>
            <a:endParaRPr lang="zh-CN" altLang="en-US"/>
          </a:p>
        </p:txBody>
      </p:sp>
    </p:spTree>
    <p:extLst>
      <p:ext uri="{BB962C8B-B14F-4D97-AF65-F5344CB8AC3E}">
        <p14:creationId xmlns:p14="http://schemas.microsoft.com/office/powerpoint/2010/main" val="2946747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7B9BE853-D778-4A71-ADBB-C749C166C8F1}" type="datetimeFigureOut">
              <a:rPr lang="zh-CN" altLang="en-US" smtClean="0"/>
              <a:t>2026/5/26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A48CD4C-17BC-4203-8828-A0C74F2E29F4}" type="slidenum">
              <a:rPr lang="zh-CN" altLang="en-US" smtClean="0"/>
              <a:t>‹#›</a:t>
            </a:fld>
            <a:endParaRPr lang="zh-CN" altLang="en-US"/>
          </a:p>
        </p:txBody>
      </p:sp>
    </p:spTree>
    <p:extLst>
      <p:ext uri="{BB962C8B-B14F-4D97-AF65-F5344CB8AC3E}">
        <p14:creationId xmlns:p14="http://schemas.microsoft.com/office/powerpoint/2010/main" val="1770448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B9BE853-D778-4A71-ADBB-C749C166C8F1}" type="datetimeFigureOut">
              <a:rPr lang="zh-CN" altLang="en-US" smtClean="0"/>
              <a:t>2026/5/26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A48CD4C-17BC-4203-8828-A0C74F2E29F4}" type="slidenum">
              <a:rPr lang="zh-CN" altLang="en-US" smtClean="0"/>
              <a:t>‹#›</a:t>
            </a:fld>
            <a:endParaRPr lang="zh-CN" altLang="en-US"/>
          </a:p>
        </p:txBody>
      </p:sp>
    </p:spTree>
    <p:extLst>
      <p:ext uri="{BB962C8B-B14F-4D97-AF65-F5344CB8AC3E}">
        <p14:creationId xmlns:p14="http://schemas.microsoft.com/office/powerpoint/2010/main" val="3986509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B9BE853-D778-4A71-ADBB-C749C166C8F1}" type="datetimeFigureOut">
              <a:rPr lang="zh-CN" altLang="en-US" smtClean="0"/>
              <a:t>2026/5/26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A48CD4C-17BC-4203-8828-A0C74F2E29F4}" type="slidenum">
              <a:rPr lang="zh-CN" altLang="en-US" smtClean="0"/>
              <a:t>‹#›</a:t>
            </a:fld>
            <a:endParaRPr lang="zh-CN" altLang="en-US"/>
          </a:p>
        </p:txBody>
      </p:sp>
    </p:spTree>
    <p:extLst>
      <p:ext uri="{BB962C8B-B14F-4D97-AF65-F5344CB8AC3E}">
        <p14:creationId xmlns:p14="http://schemas.microsoft.com/office/powerpoint/2010/main" val="1638105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B9BE853-D778-4A71-ADBB-C749C166C8F1}" type="datetimeFigureOut">
              <a:rPr lang="zh-CN" altLang="en-US" smtClean="0"/>
              <a:t>2026/5/26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A48CD4C-17BC-4203-8828-A0C74F2E29F4}" type="slidenum">
              <a:rPr lang="zh-CN" altLang="en-US" smtClean="0"/>
              <a:t>‹#›</a:t>
            </a:fld>
            <a:endParaRPr lang="zh-CN" altLang="en-US"/>
          </a:p>
        </p:txBody>
      </p:sp>
    </p:spTree>
    <p:extLst>
      <p:ext uri="{BB962C8B-B14F-4D97-AF65-F5344CB8AC3E}">
        <p14:creationId xmlns:p14="http://schemas.microsoft.com/office/powerpoint/2010/main" val="1667484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B9BE853-D778-4A71-ADBB-C749C166C8F1}" type="datetimeFigureOut">
              <a:rPr lang="zh-CN" altLang="en-US" smtClean="0"/>
              <a:t>2026/5/26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A48CD4C-17BC-4203-8828-A0C74F2E29F4}" type="slidenum">
              <a:rPr lang="zh-CN" altLang="en-US" smtClean="0"/>
              <a:t>‹#›</a:t>
            </a:fld>
            <a:endParaRPr lang="zh-CN" altLang="en-US"/>
          </a:p>
        </p:txBody>
      </p:sp>
    </p:spTree>
    <p:extLst>
      <p:ext uri="{BB962C8B-B14F-4D97-AF65-F5344CB8AC3E}">
        <p14:creationId xmlns:p14="http://schemas.microsoft.com/office/powerpoint/2010/main" val="1707208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B9BE853-D778-4A71-ADBB-C749C166C8F1}" type="datetimeFigureOut">
              <a:rPr lang="zh-CN" altLang="en-US" smtClean="0"/>
              <a:t>2026/5/26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A48CD4C-17BC-4203-8828-A0C74F2E29F4}" type="slidenum">
              <a:rPr lang="zh-CN" altLang="en-US" smtClean="0"/>
              <a:t>‹#›</a:t>
            </a:fld>
            <a:endParaRPr lang="zh-CN" altLang="en-US"/>
          </a:p>
        </p:txBody>
      </p:sp>
    </p:spTree>
    <p:extLst>
      <p:ext uri="{BB962C8B-B14F-4D97-AF65-F5344CB8AC3E}">
        <p14:creationId xmlns:p14="http://schemas.microsoft.com/office/powerpoint/2010/main" val="23497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B9BE853-D778-4A71-ADBB-C749C166C8F1}" type="datetimeFigureOut">
              <a:rPr lang="zh-CN" altLang="en-US" smtClean="0"/>
              <a:t>2026/5/26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A48CD4C-17BC-4203-8828-A0C74F2E29F4}" type="slidenum">
              <a:rPr lang="zh-CN" altLang="en-US" smtClean="0"/>
              <a:t>‹#›</a:t>
            </a:fld>
            <a:endParaRPr lang="zh-CN" altLang="en-US"/>
          </a:p>
        </p:txBody>
      </p:sp>
    </p:spTree>
    <p:extLst>
      <p:ext uri="{BB962C8B-B14F-4D97-AF65-F5344CB8AC3E}">
        <p14:creationId xmlns:p14="http://schemas.microsoft.com/office/powerpoint/2010/main" val="2208567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B9BE853-D778-4A71-ADBB-C749C166C8F1}" type="datetimeFigureOut">
              <a:rPr lang="zh-CN" altLang="en-US" smtClean="0"/>
              <a:t>2026/5/26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A48CD4C-17BC-4203-8828-A0C74F2E29F4}" type="slidenum">
              <a:rPr lang="zh-CN" altLang="en-US" smtClean="0"/>
              <a:t>‹#›</a:t>
            </a:fld>
            <a:endParaRPr lang="zh-CN" altLang="en-US"/>
          </a:p>
        </p:txBody>
      </p:sp>
    </p:spTree>
    <p:extLst>
      <p:ext uri="{BB962C8B-B14F-4D97-AF65-F5344CB8AC3E}">
        <p14:creationId xmlns:p14="http://schemas.microsoft.com/office/powerpoint/2010/main" val="3446820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B9BE853-D778-4A71-ADBB-C749C166C8F1}" type="datetimeFigureOut">
              <a:rPr lang="zh-CN" altLang="en-US" smtClean="0"/>
              <a:t>2026/5/26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A48CD4C-17BC-4203-8828-A0C74F2E29F4}" type="slidenum">
              <a:rPr lang="zh-CN" altLang="en-US" smtClean="0"/>
              <a:t>‹#›</a:t>
            </a:fld>
            <a:endParaRPr lang="zh-CN" altLang="en-US"/>
          </a:p>
        </p:txBody>
      </p:sp>
    </p:spTree>
    <p:extLst>
      <p:ext uri="{BB962C8B-B14F-4D97-AF65-F5344CB8AC3E}">
        <p14:creationId xmlns:p14="http://schemas.microsoft.com/office/powerpoint/2010/main" val="1565320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9BE853-D778-4A71-ADBB-C749C166C8F1}" type="datetimeFigureOut">
              <a:rPr lang="zh-CN" altLang="en-US" smtClean="0"/>
              <a:t>2026/5/26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48CD4C-17BC-4203-8828-A0C74F2E29F4}" type="slidenum">
              <a:rPr lang="zh-CN" altLang="en-US" smtClean="0"/>
              <a:t>‹#›</a:t>
            </a:fld>
            <a:endParaRPr lang="zh-CN" altLang="en-US"/>
          </a:p>
        </p:txBody>
      </p:sp>
    </p:spTree>
    <p:extLst>
      <p:ext uri="{BB962C8B-B14F-4D97-AF65-F5344CB8AC3E}">
        <p14:creationId xmlns:p14="http://schemas.microsoft.com/office/powerpoint/2010/main" val="2260308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hyperlink" Target="https://web.suda.edu.cn/xylb/list.htm&#65292;&#29228;&#21462;5" TargetMode="Externa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作业</a:t>
            </a:r>
            <a:r>
              <a:rPr lang="en-US" altLang="zh-CN" dirty="0"/>
              <a:t>9</a:t>
            </a:r>
            <a:r>
              <a:rPr lang="zh-CN" altLang="en-US" dirty="0"/>
              <a:t>：</a:t>
            </a:r>
            <a:r>
              <a:rPr lang="en-US" altLang="zh-CN" dirty="0"/>
              <a:t>IR</a:t>
            </a:r>
            <a:r>
              <a:rPr lang="zh-CN" altLang="en-US" dirty="0"/>
              <a:t>综合实践项目</a:t>
            </a:r>
          </a:p>
        </p:txBody>
      </p:sp>
      <p:sp>
        <p:nvSpPr>
          <p:cNvPr id="3" name="副标题 2"/>
          <p:cNvSpPr>
            <a:spLocks noGrp="1"/>
          </p:cNvSpPr>
          <p:nvPr>
            <p:ph type="subTitle" idx="1"/>
          </p:nvPr>
        </p:nvSpPr>
        <p:spPr/>
        <p:txBody>
          <a:bodyPr/>
          <a:lstStyle/>
          <a:p>
            <a:endParaRPr lang="zh-CN" altLang="en-US"/>
          </a:p>
        </p:txBody>
      </p:sp>
    </p:spTree>
    <p:custDataLst>
      <p:tags r:id="rId1"/>
    </p:custDataLst>
    <p:extLst>
      <p:ext uri="{BB962C8B-B14F-4D97-AF65-F5344CB8AC3E}">
        <p14:creationId xmlns:p14="http://schemas.microsoft.com/office/powerpoint/2010/main" val="1935014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D48030-1B41-F010-2404-73996D2DEAB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43A6813-5D94-8383-31AB-7E8DB4E0FC83}"/>
              </a:ext>
            </a:extLst>
          </p:cNvPr>
          <p:cNvSpPr>
            <a:spLocks noGrp="1"/>
          </p:cNvSpPr>
          <p:nvPr>
            <p:ph idx="1"/>
          </p:nvPr>
        </p:nvSpPr>
        <p:spPr/>
        <p:txBody>
          <a:bodyPr/>
          <a:lstStyle/>
          <a:p>
            <a:endParaRPr lang="zh-CN" altLang="en-US"/>
          </a:p>
        </p:txBody>
      </p:sp>
      <p:pic>
        <p:nvPicPr>
          <p:cNvPr id="4" name="Picture 3">
            <a:extLst>
              <a:ext uri="{FF2B5EF4-FFF2-40B4-BE49-F238E27FC236}">
                <a16:creationId xmlns:a16="http://schemas.microsoft.com/office/drawing/2014/main" id="{8C47D8F7-2346-72BE-9C31-3409608E73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3" y="1638300"/>
            <a:ext cx="8318500" cy="41544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280548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11D600-820D-25D5-ED3D-2521DBBEE7D7}"/>
              </a:ext>
            </a:extLst>
          </p:cNvPr>
          <p:cNvSpPr>
            <a:spLocks noGrp="1"/>
          </p:cNvSpPr>
          <p:nvPr>
            <p:ph type="title"/>
          </p:nvPr>
        </p:nvSpPr>
        <p:spPr/>
        <p:txBody>
          <a:bodyPr/>
          <a:lstStyle/>
          <a:p>
            <a:r>
              <a:rPr lang="zh-CN" altLang="en-US" dirty="0"/>
              <a:t>目的</a:t>
            </a:r>
          </a:p>
        </p:txBody>
      </p:sp>
      <p:sp>
        <p:nvSpPr>
          <p:cNvPr id="3" name="内容占位符 2">
            <a:extLst>
              <a:ext uri="{FF2B5EF4-FFF2-40B4-BE49-F238E27FC236}">
                <a16:creationId xmlns:a16="http://schemas.microsoft.com/office/drawing/2014/main" id="{C206DB1D-CEA0-94AE-20B6-A3789ABC614D}"/>
              </a:ext>
            </a:extLst>
          </p:cNvPr>
          <p:cNvSpPr>
            <a:spLocks noGrp="1"/>
          </p:cNvSpPr>
          <p:nvPr>
            <p:ph idx="1"/>
          </p:nvPr>
        </p:nvSpPr>
        <p:spPr/>
        <p:txBody>
          <a:bodyPr/>
          <a:lstStyle/>
          <a:p>
            <a:r>
              <a:rPr lang="zh-CN" altLang="en-US" dirty="0"/>
              <a:t>综合使用前期积累的</a:t>
            </a:r>
            <a:r>
              <a:rPr lang="en-US" altLang="zh-CN" dirty="0"/>
              <a:t>IR</a:t>
            </a:r>
            <a:r>
              <a:rPr lang="zh-CN" altLang="en-US" dirty="0"/>
              <a:t>相关技术实现一个完整的</a:t>
            </a:r>
            <a:r>
              <a:rPr lang="en-US" altLang="zh-CN" dirty="0"/>
              <a:t>IR</a:t>
            </a:r>
            <a:r>
              <a:rPr lang="zh-CN" altLang="en-US" dirty="0"/>
              <a:t>查询系统</a:t>
            </a:r>
            <a:endParaRPr lang="en-US" altLang="zh-CN" dirty="0"/>
          </a:p>
          <a:p>
            <a:r>
              <a:rPr lang="zh-CN" altLang="en-US" dirty="0"/>
              <a:t>尝试拓展</a:t>
            </a:r>
            <a:r>
              <a:rPr lang="en-US" altLang="zh-CN" dirty="0"/>
              <a:t>IR</a:t>
            </a:r>
            <a:r>
              <a:rPr lang="zh-CN" altLang="en-US" dirty="0"/>
              <a:t>系统的功能或者探索优化</a:t>
            </a:r>
            <a:r>
              <a:rPr lang="en-US" altLang="zh-CN" dirty="0"/>
              <a:t>IR</a:t>
            </a:r>
            <a:r>
              <a:rPr lang="zh-CN" altLang="en-US" dirty="0"/>
              <a:t>系统性能的新方法</a:t>
            </a:r>
            <a:endParaRPr lang="en-US" altLang="zh-CN" dirty="0"/>
          </a:p>
        </p:txBody>
      </p:sp>
    </p:spTree>
    <p:custDataLst>
      <p:tags r:id="rId1"/>
    </p:custDataLst>
    <p:extLst>
      <p:ext uri="{BB962C8B-B14F-4D97-AF65-F5344CB8AC3E}">
        <p14:creationId xmlns:p14="http://schemas.microsoft.com/office/powerpoint/2010/main" val="1374338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0576B2-B90D-20FE-63D7-4907AC415683}"/>
              </a:ext>
            </a:extLst>
          </p:cNvPr>
          <p:cNvSpPr>
            <a:spLocks noGrp="1"/>
          </p:cNvSpPr>
          <p:nvPr>
            <p:ph type="title"/>
          </p:nvPr>
        </p:nvSpPr>
        <p:spPr/>
        <p:txBody>
          <a:bodyPr/>
          <a:lstStyle/>
          <a:p>
            <a:r>
              <a:rPr lang="zh-CN" altLang="en-US" dirty="0"/>
              <a:t>任务</a:t>
            </a:r>
          </a:p>
        </p:txBody>
      </p:sp>
      <p:sp>
        <p:nvSpPr>
          <p:cNvPr id="3" name="内容占位符 2">
            <a:extLst>
              <a:ext uri="{FF2B5EF4-FFF2-40B4-BE49-F238E27FC236}">
                <a16:creationId xmlns:a16="http://schemas.microsoft.com/office/drawing/2014/main" id="{A6514F14-5FA4-4CDA-C27C-142D94BDC385}"/>
              </a:ext>
            </a:extLst>
          </p:cNvPr>
          <p:cNvSpPr>
            <a:spLocks noGrp="1"/>
          </p:cNvSpPr>
          <p:nvPr>
            <p:ph idx="1"/>
          </p:nvPr>
        </p:nvSpPr>
        <p:spPr/>
        <p:txBody>
          <a:bodyPr>
            <a:normAutofit/>
          </a:bodyPr>
          <a:lstStyle/>
          <a:p>
            <a:pPr marL="0" indent="0">
              <a:buNone/>
            </a:pPr>
            <a:r>
              <a:rPr lang="zh-CN" altLang="en-US" dirty="0"/>
              <a:t>请设计和实现一个可以满足查询条件的苏州大学若干个学院的导师信息的检索系统：</a:t>
            </a:r>
            <a:endParaRPr lang="en-US" altLang="zh-CN" dirty="0"/>
          </a:p>
          <a:p>
            <a:pPr marL="0" indent="0">
              <a:buNone/>
            </a:pPr>
            <a:r>
              <a:rPr lang="zh-CN" altLang="en-US" dirty="0"/>
              <a:t>（</a:t>
            </a:r>
            <a:r>
              <a:rPr lang="en-US" altLang="zh-CN" dirty="0"/>
              <a:t>1</a:t>
            </a:r>
            <a:r>
              <a:rPr lang="zh-CN" altLang="en-US" dirty="0"/>
              <a:t>）输入查询条件</a:t>
            </a:r>
            <a:r>
              <a:rPr lang="en-US" altLang="zh-CN" dirty="0"/>
              <a:t>-”</a:t>
            </a:r>
            <a:r>
              <a:rPr lang="zh-CN" altLang="en-US" dirty="0"/>
              <a:t>自然语言处理方向</a:t>
            </a:r>
            <a:r>
              <a:rPr lang="en-US" altLang="zh-CN" dirty="0"/>
              <a:t>”</a:t>
            </a:r>
            <a:r>
              <a:rPr lang="zh-CN" altLang="en-US" dirty="0"/>
              <a:t>，能将从事与该研究方向</a:t>
            </a:r>
            <a:r>
              <a:rPr lang="zh-CN" altLang="en-US" b="1" dirty="0">
                <a:solidFill>
                  <a:srgbClr val="0070C0"/>
                </a:solidFill>
              </a:rPr>
              <a:t>相近</a:t>
            </a:r>
            <a:r>
              <a:rPr lang="zh-CN" altLang="en-US" dirty="0"/>
              <a:t>的所有导师信息反馈给用户。</a:t>
            </a:r>
            <a:endParaRPr lang="en-US" altLang="zh-CN" dirty="0"/>
          </a:p>
          <a:p>
            <a:pPr marL="0" indent="0">
              <a:buNone/>
            </a:pPr>
            <a:r>
              <a:rPr lang="zh-CN" altLang="en-US" dirty="0"/>
              <a:t>（</a:t>
            </a:r>
            <a:r>
              <a:rPr lang="en-US" altLang="zh-CN" dirty="0"/>
              <a:t>2</a:t>
            </a:r>
            <a:r>
              <a:rPr lang="zh-CN" altLang="en-US" dirty="0"/>
              <a:t>）输入教师姓名</a:t>
            </a:r>
            <a:r>
              <a:rPr lang="en-US" altLang="zh-CN" dirty="0"/>
              <a:t>-</a:t>
            </a:r>
            <a:r>
              <a:rPr lang="zh-CN" altLang="en-US" dirty="0"/>
              <a:t>“周国栋”，能精确将该老师信息返回给用户。</a:t>
            </a:r>
            <a:endParaRPr lang="en-US" altLang="zh-CN" dirty="0"/>
          </a:p>
          <a:p>
            <a:pPr marL="0" indent="0">
              <a:buNone/>
            </a:pPr>
            <a:r>
              <a:rPr lang="zh-CN" altLang="en-US" dirty="0"/>
              <a:t>（</a:t>
            </a:r>
            <a:r>
              <a:rPr lang="en-US" altLang="zh-CN" dirty="0"/>
              <a:t>3</a:t>
            </a:r>
            <a:r>
              <a:rPr lang="zh-CN" altLang="en-US" dirty="0"/>
              <a:t>）其他你认为需要支持的常用查询语句或者关键词</a:t>
            </a:r>
            <a:r>
              <a:rPr lang="en-US" altLang="zh-CN" dirty="0"/>
              <a:t>(</a:t>
            </a:r>
            <a:r>
              <a:rPr lang="zh-CN" altLang="en-US" dirty="0"/>
              <a:t>比如查一篇论文的名字，找匹配的导师信息</a:t>
            </a:r>
            <a:r>
              <a:rPr lang="en-US" altLang="zh-CN" dirty="0"/>
              <a:t>)</a:t>
            </a:r>
          </a:p>
          <a:p>
            <a:pPr marL="0" indent="0">
              <a:buNone/>
            </a:pPr>
            <a:endParaRPr lang="en-US" altLang="zh-CN" dirty="0"/>
          </a:p>
          <a:p>
            <a:pPr marL="0" indent="0">
              <a:buNone/>
            </a:pPr>
            <a:r>
              <a:rPr lang="zh-CN" altLang="en-US" dirty="0"/>
              <a:t>上述</a:t>
            </a:r>
            <a:r>
              <a:rPr lang="en-US" altLang="zh-CN" dirty="0"/>
              <a:t>IR</a:t>
            </a:r>
            <a:r>
              <a:rPr lang="zh-CN" altLang="en-US" dirty="0"/>
              <a:t>系统是一个满足搜索特定主题的</a:t>
            </a:r>
            <a:r>
              <a:rPr lang="en-US" altLang="zh-CN" dirty="0"/>
              <a:t>IR</a:t>
            </a:r>
            <a:r>
              <a:rPr lang="zh-CN" altLang="en-US" dirty="0"/>
              <a:t>系统，也称为垂直检索。</a:t>
            </a:r>
            <a:endParaRPr lang="en-US" altLang="zh-CN" dirty="0"/>
          </a:p>
        </p:txBody>
      </p:sp>
    </p:spTree>
    <p:custDataLst>
      <p:tags r:id="rId1"/>
    </p:custDataLst>
    <p:extLst>
      <p:ext uri="{BB962C8B-B14F-4D97-AF65-F5344CB8AC3E}">
        <p14:creationId xmlns:p14="http://schemas.microsoft.com/office/powerpoint/2010/main" val="2221097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F775FC-EF95-74C9-781D-A494BE905EAF}"/>
              </a:ext>
            </a:extLst>
          </p:cNvPr>
          <p:cNvSpPr>
            <a:spLocks noGrp="1"/>
          </p:cNvSpPr>
          <p:nvPr>
            <p:ph type="title"/>
          </p:nvPr>
        </p:nvSpPr>
        <p:spPr/>
        <p:txBody>
          <a:bodyPr/>
          <a:lstStyle/>
          <a:p>
            <a:r>
              <a:rPr lang="zh-CN" altLang="en-US" dirty="0"/>
              <a:t>基本要求</a:t>
            </a:r>
          </a:p>
        </p:txBody>
      </p:sp>
      <p:sp>
        <p:nvSpPr>
          <p:cNvPr id="3" name="内容占位符 2">
            <a:extLst>
              <a:ext uri="{FF2B5EF4-FFF2-40B4-BE49-F238E27FC236}">
                <a16:creationId xmlns:a16="http://schemas.microsoft.com/office/drawing/2014/main" id="{8FA0C8C6-CF30-F035-7FF4-B2AB6A7BC968}"/>
              </a:ext>
            </a:extLst>
          </p:cNvPr>
          <p:cNvSpPr>
            <a:spLocks noGrp="1"/>
          </p:cNvSpPr>
          <p:nvPr>
            <p:ph idx="1"/>
          </p:nvPr>
        </p:nvSpPr>
        <p:spPr/>
        <p:txBody>
          <a:bodyPr>
            <a:normAutofit/>
          </a:bodyPr>
          <a:lstStyle/>
          <a:p>
            <a:pPr marL="0" indent="0">
              <a:buNone/>
            </a:pPr>
            <a:r>
              <a:rPr lang="zh-CN" altLang="en-US" sz="2400" dirty="0">
                <a:latin typeface="微软雅黑" panose="020B0503020204020204" pitchFamily="34" charset="-122"/>
                <a:ea typeface="微软雅黑" panose="020B0503020204020204" pitchFamily="34" charset="-122"/>
              </a:rPr>
              <a:t>请先用前期积累的相关技术实现一个基础的</a:t>
            </a:r>
            <a:r>
              <a:rPr lang="en-US" altLang="zh-CN" sz="2400" dirty="0">
                <a:latin typeface="微软雅黑" panose="020B0503020204020204" pitchFamily="34" charset="-122"/>
                <a:ea typeface="微软雅黑" panose="020B0503020204020204" pitchFamily="34" charset="-122"/>
              </a:rPr>
              <a:t>IR</a:t>
            </a:r>
            <a:r>
              <a:rPr lang="zh-CN" altLang="en-US" sz="2400" dirty="0">
                <a:latin typeface="微软雅黑" panose="020B0503020204020204" pitchFamily="34" charset="-122"/>
                <a:ea typeface="微软雅黑" panose="020B0503020204020204" pitchFamily="34" charset="-122"/>
              </a:rPr>
              <a:t>系统，包括：</a:t>
            </a:r>
            <a:endParaRPr lang="en-US" altLang="zh-CN" sz="2400" b="1" dirty="0">
              <a:latin typeface="微软雅黑" panose="020B0503020204020204" pitchFamily="34" charset="-122"/>
              <a:ea typeface="微软雅黑" panose="020B0503020204020204" pitchFamily="34" charset="-122"/>
            </a:endParaRPr>
          </a:p>
          <a:p>
            <a:pPr marL="0" indent="0">
              <a:lnSpc>
                <a:spcPct val="100000"/>
              </a:lnSpc>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）利用爬虫技术对下列地址的教师信息进行自动爬取并通过网页解析工具提取所有教师信息存储到本地。</a:t>
            </a:r>
            <a:endParaRPr lang="en-US" altLang="zh-CN" sz="2400" dirty="0">
              <a:latin typeface="微软雅黑" panose="020B0503020204020204" pitchFamily="34" charset="-122"/>
              <a:ea typeface="微软雅黑" panose="020B0503020204020204" pitchFamily="34" charset="-122"/>
            </a:endParaRPr>
          </a:p>
          <a:p>
            <a:pPr marL="0" indent="0">
              <a:buNone/>
            </a:pPr>
            <a:r>
              <a:rPr lang="zh-CN" altLang="en-US" b="1"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请从地址：</a:t>
            </a:r>
            <a:r>
              <a:rPr lang="en-US" altLang="zh-CN"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hlinkClick r:id="rId4"/>
              </a:rPr>
              <a:t>https://web.suda.edu.cn/xylb/list.htm</a:t>
            </a:r>
            <a:r>
              <a:rPr lang="zh-CN" altLang="en-US" sz="2400" dirty="0">
                <a:latin typeface="微软雅黑" panose="020B0503020204020204" pitchFamily="34" charset="-122"/>
                <a:ea typeface="微软雅黑" panose="020B0503020204020204" pitchFamily="34" charset="-122"/>
                <a:hlinkClick r:id="rId4"/>
              </a:rPr>
              <a:t>，</a:t>
            </a:r>
            <a:r>
              <a:rPr lang="zh-CN" altLang="en-US" sz="2400" dirty="0">
                <a:latin typeface="微软雅黑" panose="020B0503020204020204" pitchFamily="34" charset="-122"/>
                <a:ea typeface="微软雅黑" panose="020B0503020204020204" pitchFamily="34" charset="-122"/>
              </a:rPr>
              <a:t>爬取</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个学院的教师信息到本地（请至少包含计算机学院，其他学院可以根据兴趣选择）。</a:t>
            </a:r>
            <a:endParaRPr lang="en-US" altLang="zh-CN" sz="2400" dirty="0">
              <a:latin typeface="微软雅黑" panose="020B0503020204020204" pitchFamily="34" charset="-122"/>
              <a:ea typeface="微软雅黑" panose="020B0503020204020204" pitchFamily="34" charset="-122"/>
            </a:endParaRPr>
          </a:p>
          <a:p>
            <a:pPr marL="0" indent="0">
              <a:buNone/>
            </a:pPr>
            <a:r>
              <a:rPr lang="zh-CN" altLang="en-US" sz="2400" dirty="0">
                <a:latin typeface="微软雅黑" panose="020B0503020204020204" pitchFamily="34" charset="-122"/>
                <a:ea typeface="微软雅黑" panose="020B0503020204020204" pitchFamily="34" charset="-122"/>
              </a:rPr>
              <a:t>    参考附件中“爬虫</a:t>
            </a:r>
            <a:r>
              <a:rPr lang="en-US" altLang="zh-CN" sz="2400" dirty="0">
                <a:latin typeface="微软雅黑" panose="020B0503020204020204" pitchFamily="34" charset="-122"/>
                <a:ea typeface="微软雅黑" panose="020B0503020204020204" pitchFamily="34" charset="-122"/>
              </a:rPr>
              <a:t>.pptx”</a:t>
            </a:r>
            <a:r>
              <a:rPr lang="zh-CN" altLang="en-US" sz="2400" dirty="0">
                <a:latin typeface="微软雅黑" panose="020B0503020204020204" pitchFamily="34" charset="-122"/>
                <a:ea typeface="微软雅黑" panose="020B0503020204020204" pitchFamily="34" charset="-122"/>
              </a:rPr>
              <a:t>（如果无法实现爬虫，可以手工下载多个相关页面</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然后采用</a:t>
            </a:r>
            <a:r>
              <a:rPr lang="en-US" altLang="zh-CN" sz="2400" dirty="0" err="1">
                <a:latin typeface="微软雅黑" panose="020B0503020204020204" pitchFamily="34" charset="-122"/>
                <a:ea typeface="微软雅黑" panose="020B0503020204020204" pitchFamily="34" charset="-122"/>
              </a:rPr>
              <a:t>Beautifulsoup</a:t>
            </a:r>
            <a:r>
              <a:rPr lang="zh-CN" altLang="en-US" sz="2400" dirty="0">
                <a:latin typeface="微软雅黑" panose="020B0503020204020204" pitchFamily="34" charset="-122"/>
                <a:ea typeface="微软雅黑" panose="020B0503020204020204" pitchFamily="34" charset="-122"/>
              </a:rPr>
              <a:t>进行正文信息提取。）</a:t>
            </a:r>
            <a:endParaRPr lang="en-US" altLang="zh-CN" sz="2400" dirty="0">
              <a:latin typeface="微软雅黑" panose="020B0503020204020204" pitchFamily="34" charset="-122"/>
              <a:ea typeface="微软雅黑" panose="020B0503020204020204" pitchFamily="34" charset="-122"/>
            </a:endParaRPr>
          </a:p>
          <a:p>
            <a:pPr marL="0" indent="0">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）基于上述数据构建一个基础的排序式</a:t>
            </a:r>
            <a:r>
              <a:rPr lang="en-US" altLang="zh-CN" sz="2400" dirty="0">
                <a:latin typeface="微软雅黑" panose="020B0503020204020204" pitchFamily="34" charset="-122"/>
                <a:ea typeface="微软雅黑" panose="020B0503020204020204" pitchFamily="34" charset="-122"/>
              </a:rPr>
              <a:t>IR</a:t>
            </a:r>
            <a:r>
              <a:rPr lang="zh-CN" altLang="en-US" sz="2400" dirty="0">
                <a:latin typeface="微软雅黑" panose="020B0503020204020204" pitchFamily="34" charset="-122"/>
                <a:ea typeface="微软雅黑" panose="020B0503020204020204" pitchFamily="34" charset="-122"/>
              </a:rPr>
              <a:t>系统。</a:t>
            </a:r>
            <a:endParaRPr lang="en-US" altLang="zh-CN" sz="2400" dirty="0">
              <a:latin typeface="微软雅黑" panose="020B0503020204020204" pitchFamily="34" charset="-122"/>
              <a:ea typeface="微软雅黑" panose="020B0503020204020204" pitchFamily="34" charset="-122"/>
            </a:endParaRPr>
          </a:p>
          <a:p>
            <a:pPr marL="0" indent="0">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请注意教师信息的隐私信息处理，比如电话，可以用</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来替换</a:t>
            </a:r>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marL="0" indent="0">
              <a:buNone/>
            </a:pPr>
            <a:endParaRPr lang="en-US" altLang="zh-CN"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160680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D4C62D-F2E1-4FE7-CBD1-2786B3D4D7CB}"/>
              </a:ext>
            </a:extLst>
          </p:cNvPr>
          <p:cNvSpPr>
            <a:spLocks noGrp="1"/>
          </p:cNvSpPr>
          <p:nvPr>
            <p:ph type="title"/>
          </p:nvPr>
        </p:nvSpPr>
        <p:spPr/>
        <p:txBody>
          <a:bodyPr/>
          <a:lstStyle/>
          <a:p>
            <a:r>
              <a:rPr lang="zh-CN" altLang="en-US" dirty="0"/>
              <a:t>升级要求：</a:t>
            </a:r>
          </a:p>
        </p:txBody>
      </p:sp>
      <p:sp>
        <p:nvSpPr>
          <p:cNvPr id="3" name="内容占位符 2">
            <a:extLst>
              <a:ext uri="{FF2B5EF4-FFF2-40B4-BE49-F238E27FC236}">
                <a16:creationId xmlns:a16="http://schemas.microsoft.com/office/drawing/2014/main" id="{1A1C798F-D376-1124-EF29-0A959268578C}"/>
              </a:ext>
            </a:extLst>
          </p:cNvPr>
          <p:cNvSpPr>
            <a:spLocks noGrp="1"/>
          </p:cNvSpPr>
          <p:nvPr>
            <p:ph idx="1"/>
          </p:nvPr>
        </p:nvSpPr>
        <p:spPr/>
        <p:txBody>
          <a:bodyPr>
            <a:normAutofit fontScale="92500" lnSpcReduction="20000"/>
          </a:bodyPr>
          <a:lstStyle/>
          <a:p>
            <a:pPr marL="0" indent="0">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）在此基础</a:t>
            </a:r>
            <a:r>
              <a:rPr lang="en-US" altLang="zh-CN" dirty="0">
                <a:latin typeface="微软雅黑" panose="020B0503020204020204" pitchFamily="34" charset="-122"/>
                <a:ea typeface="微软雅黑" panose="020B0503020204020204" pitchFamily="34" charset="-122"/>
              </a:rPr>
              <a:t>IR</a:t>
            </a:r>
            <a:r>
              <a:rPr lang="zh-CN" altLang="en-US" dirty="0">
                <a:latin typeface="微软雅黑" panose="020B0503020204020204" pitchFamily="34" charset="-122"/>
                <a:ea typeface="微软雅黑" panose="020B0503020204020204" pitchFamily="34" charset="-122"/>
              </a:rPr>
              <a:t>系统上，对此进行优化，构建另一个更先进的</a:t>
            </a:r>
            <a:r>
              <a:rPr lang="en-US" altLang="zh-CN" dirty="0">
                <a:latin typeface="微软雅黑" panose="020B0503020204020204" pitchFamily="34" charset="-122"/>
                <a:ea typeface="微软雅黑" panose="020B0503020204020204" pitchFamily="34" charset="-122"/>
              </a:rPr>
              <a:t>IR</a:t>
            </a:r>
            <a:r>
              <a:rPr lang="zh-CN" altLang="en-US" dirty="0">
                <a:latin typeface="微软雅黑" panose="020B0503020204020204" pitchFamily="34" charset="-122"/>
                <a:ea typeface="微软雅黑" panose="020B0503020204020204" pitchFamily="34" charset="-122"/>
              </a:rPr>
              <a:t>系统，请联合</a:t>
            </a:r>
            <a:r>
              <a:rPr lang="en-US" altLang="zh-CN" dirty="0">
                <a:latin typeface="微软雅黑" panose="020B0503020204020204" pitchFamily="34" charset="-122"/>
                <a:ea typeface="微软雅黑" panose="020B0503020204020204" pitchFamily="34" charset="-122"/>
              </a:rPr>
              <a:t>2-3</a:t>
            </a:r>
            <a:r>
              <a:rPr lang="zh-CN" altLang="en-US" dirty="0">
                <a:latin typeface="微软雅黑" panose="020B0503020204020204" pitchFamily="34" charset="-122"/>
                <a:ea typeface="微软雅黑" panose="020B0503020204020204" pitchFamily="34" charset="-122"/>
              </a:rPr>
              <a:t>个同学设计一些优化方案并付诸实践（</a:t>
            </a:r>
            <a:r>
              <a:rPr lang="zh-CN" altLang="en-US" dirty="0">
                <a:solidFill>
                  <a:srgbClr val="FF0000"/>
                </a:solidFill>
                <a:latin typeface="微软雅黑" panose="020B0503020204020204" pitchFamily="34" charset="-122"/>
                <a:ea typeface="微软雅黑" panose="020B0503020204020204" pitchFamily="34" charset="-122"/>
              </a:rPr>
              <a:t>至少完成</a:t>
            </a:r>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项</a:t>
            </a:r>
            <a:r>
              <a:rPr lang="zh-CN" altLang="en-US" dirty="0">
                <a:latin typeface="微软雅黑" panose="020B0503020204020204" pitchFamily="34" charset="-122"/>
                <a:ea typeface="微软雅黑" panose="020B0503020204020204" pitchFamily="34" charset="-122"/>
              </a:rPr>
              <a:t>优化）；</a:t>
            </a:r>
            <a:endParaRPr lang="en-US" altLang="zh-CN" dirty="0">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）实验报告和展示时，要能体现优化效果</a:t>
            </a:r>
            <a:endParaRPr lang="en-US" altLang="zh-CN" dirty="0">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比如，同一个查询，在两套不同系统里的查询结果，以支持你的优化目标是否真正实现。</a:t>
            </a:r>
            <a:endParaRPr lang="en-US" altLang="zh-CN" dirty="0">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）同一组的组长负责提交该组实验报告，实验报告要体现分工和每位同学的贡献。</a:t>
            </a:r>
            <a:endParaRPr lang="en-US" altLang="zh-CN" dirty="0">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）每一组需要派一位同学</a:t>
            </a:r>
            <a:r>
              <a:rPr lang="en-US" altLang="zh-CN" dirty="0">
                <a:latin typeface="微软雅黑" panose="020B0503020204020204" pitchFamily="34" charset="-122"/>
                <a:ea typeface="微软雅黑" panose="020B0503020204020204" pitchFamily="34" charset="-122"/>
              </a:rPr>
              <a:t>ppt</a:t>
            </a:r>
            <a:r>
              <a:rPr lang="zh-CN" altLang="en-US" dirty="0">
                <a:latin typeface="微软雅黑" panose="020B0503020204020204" pitchFamily="34" charset="-122"/>
                <a:ea typeface="微软雅黑" panose="020B0503020204020204" pitchFamily="34" charset="-122"/>
              </a:rPr>
              <a:t>展示本组工作。</a:t>
            </a:r>
            <a:endParaRPr lang="en-US" altLang="zh-CN" dirty="0">
              <a:latin typeface="微软雅黑" panose="020B0503020204020204" pitchFamily="34" charset="-122"/>
              <a:ea typeface="微软雅黑" panose="020B0503020204020204" pitchFamily="34" charset="-122"/>
            </a:endParaRPr>
          </a:p>
          <a:p>
            <a:pPr marL="0" indent="0">
              <a:buNone/>
            </a:pPr>
            <a:r>
              <a:rPr lang="en-US" altLang="zh-CN" dirty="0">
                <a:latin typeface="微软雅黑" panose="020B0503020204020204" pitchFamily="34" charset="-122"/>
                <a:ea typeface="微软雅黑" panose="020B0503020204020204" pitchFamily="34" charset="-122"/>
              </a:rPr>
              <a:t>  </a:t>
            </a:r>
          </a:p>
          <a:p>
            <a:pPr marL="0" indent="0">
              <a:buNone/>
            </a:pPr>
            <a:endParaRPr lang="en-US" altLang="zh-CN" dirty="0">
              <a:latin typeface="微软雅黑" panose="020B0503020204020204" pitchFamily="34" charset="-122"/>
              <a:ea typeface="微软雅黑" panose="020B0503020204020204" pitchFamily="34" charset="-122"/>
            </a:endParaRPr>
          </a:p>
          <a:p>
            <a:pPr marL="0" indent="0">
              <a:buNone/>
            </a:pPr>
            <a:r>
              <a:rPr lang="zh-CN" altLang="en-US" dirty="0">
                <a:latin typeface="微软雅黑" panose="020B0503020204020204" pitchFamily="34" charset="-122"/>
                <a:ea typeface="微软雅黑" panose="020B0503020204020204" pitchFamily="34" charset="-122"/>
              </a:rPr>
              <a:t>供参考的优化方案</a:t>
            </a:r>
            <a:endParaRPr lang="zh-CN" altLang="en-US" dirty="0"/>
          </a:p>
        </p:txBody>
      </p:sp>
    </p:spTree>
    <p:custDataLst>
      <p:tags r:id="rId1"/>
    </p:custDataLst>
    <p:extLst>
      <p:ext uri="{BB962C8B-B14F-4D97-AF65-F5344CB8AC3E}">
        <p14:creationId xmlns:p14="http://schemas.microsoft.com/office/powerpoint/2010/main" val="1206257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438D5-08EE-B71E-69A8-A2DB5C06C62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35205D1-E893-7370-6634-D8AC2B130785}"/>
              </a:ext>
            </a:extLst>
          </p:cNvPr>
          <p:cNvSpPr>
            <a:spLocks noGrp="1"/>
          </p:cNvSpPr>
          <p:nvPr>
            <p:ph type="title"/>
          </p:nvPr>
        </p:nvSpPr>
        <p:spPr/>
        <p:txBody>
          <a:bodyPr/>
          <a:lstStyle/>
          <a:p>
            <a:r>
              <a:rPr lang="zh-CN" altLang="en-US" dirty="0"/>
              <a:t>优化方案选项</a:t>
            </a:r>
          </a:p>
        </p:txBody>
      </p:sp>
      <p:sp>
        <p:nvSpPr>
          <p:cNvPr id="3" name="内容占位符 2">
            <a:extLst>
              <a:ext uri="{FF2B5EF4-FFF2-40B4-BE49-F238E27FC236}">
                <a16:creationId xmlns:a16="http://schemas.microsoft.com/office/drawing/2014/main" id="{96CA1FBD-F335-9A9F-6344-509B3819F8E3}"/>
              </a:ext>
            </a:extLst>
          </p:cNvPr>
          <p:cNvSpPr>
            <a:spLocks noGrp="1"/>
          </p:cNvSpPr>
          <p:nvPr>
            <p:ph idx="1"/>
          </p:nvPr>
        </p:nvSpPr>
        <p:spPr/>
        <p:txBody>
          <a:bodyPr>
            <a:normAutofit lnSpcReduction="10000"/>
          </a:bodyPr>
          <a:lstStyle/>
          <a:p>
            <a:pPr marL="0" indent="0">
              <a:buNone/>
            </a:pPr>
            <a:r>
              <a:rPr lang="zh-CN" altLang="en-US" sz="3200" dirty="0">
                <a:latin typeface="Times New Roman" panose="02020603050405020304" pitchFamily="18" charset="0"/>
                <a:ea typeface="宋体" panose="02010600030101010101" pitchFamily="2" charset="-122"/>
              </a:rPr>
              <a:t>（</a:t>
            </a:r>
            <a:r>
              <a:rPr lang="en-US" altLang="zh-CN" sz="3200" dirty="0">
                <a:latin typeface="Times New Roman" panose="02020603050405020304" pitchFamily="18" charset="0"/>
                <a:ea typeface="宋体" panose="02010600030101010101" pitchFamily="2" charset="-122"/>
              </a:rPr>
              <a:t>1</a:t>
            </a:r>
            <a:r>
              <a:rPr lang="zh-CN" altLang="en-US" sz="3200"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设计和实现一个图形化查询界面的</a:t>
            </a:r>
            <a:r>
              <a:rPr lang="en-US" altLang="zh-CN" sz="3200" b="1" dirty="0">
                <a:latin typeface="Times New Roman" panose="02020603050405020304" pitchFamily="18" charset="0"/>
                <a:ea typeface="宋体" panose="02010600030101010101" pitchFamily="2" charset="-122"/>
              </a:rPr>
              <a:t>IR</a:t>
            </a:r>
            <a:r>
              <a:rPr lang="zh-CN" altLang="en-US" sz="3200" b="1" dirty="0">
                <a:latin typeface="Times New Roman" panose="02020603050405020304" pitchFamily="18" charset="0"/>
                <a:ea typeface="宋体" panose="02010600030101010101" pitchFamily="2" charset="-122"/>
              </a:rPr>
              <a:t>检索系统</a:t>
            </a:r>
            <a:r>
              <a:rPr lang="zh-CN" altLang="en-US" sz="3200" dirty="0">
                <a:latin typeface="Times New Roman" panose="02020603050405020304" pitchFamily="18" charset="0"/>
                <a:ea typeface="宋体" panose="02010600030101010101" pitchFamily="2" charset="-122"/>
              </a:rPr>
              <a:t>。（</a:t>
            </a:r>
            <a:r>
              <a:rPr lang="zh-CN" altLang="en-US" sz="3200" b="1" dirty="0">
                <a:solidFill>
                  <a:srgbClr val="0070C0"/>
                </a:solidFill>
                <a:latin typeface="Times New Roman" panose="02020603050405020304" pitchFamily="18" charset="0"/>
                <a:ea typeface="宋体" panose="02010600030101010101" pitchFamily="2" charset="-122"/>
              </a:rPr>
              <a:t>可选</a:t>
            </a:r>
            <a:r>
              <a:rPr lang="zh-CN" altLang="en-US" sz="3200" dirty="0">
                <a:latin typeface="Times New Roman" panose="02020603050405020304" pitchFamily="18" charset="0"/>
                <a:ea typeface="宋体" panose="02010600030101010101" pitchFamily="2" charset="-122"/>
              </a:rPr>
              <a:t>）</a:t>
            </a:r>
            <a:endParaRPr lang="en-US" altLang="zh-CN" sz="3200" dirty="0">
              <a:latin typeface="Times New Roman" panose="02020603050405020304" pitchFamily="18" charset="0"/>
              <a:ea typeface="宋体" panose="02010600030101010101" pitchFamily="2" charset="-122"/>
            </a:endParaRPr>
          </a:p>
          <a:p>
            <a:pPr marL="457200" lvl="1" indent="0">
              <a:buNone/>
            </a:pPr>
            <a:r>
              <a:rPr lang="zh-CN" altLang="en-US" sz="2800" dirty="0">
                <a:latin typeface="Times New Roman" panose="02020603050405020304" pitchFamily="18" charset="0"/>
                <a:ea typeface="宋体" panose="02010600030101010101" pitchFamily="2" charset="-122"/>
              </a:rPr>
              <a:t>比如使用</a:t>
            </a:r>
            <a:r>
              <a:rPr lang="en-US" altLang="zh-CN" sz="2800" dirty="0" err="1">
                <a:latin typeface="Times New Roman" panose="02020603050405020304" pitchFamily="18" charset="0"/>
                <a:ea typeface="宋体" panose="02010600030101010101" pitchFamily="2" charset="-122"/>
              </a:rPr>
              <a:t>Tkinter</a:t>
            </a:r>
            <a:r>
              <a:rPr lang="en-US" altLang="zh-CN" sz="2800" dirty="0">
                <a:latin typeface="Times New Roman" panose="02020603050405020304" pitchFamily="18" charset="0"/>
                <a:ea typeface="宋体" panose="02010600030101010101" pitchFamily="2" charset="-122"/>
              </a:rPr>
              <a:t>/</a:t>
            </a:r>
            <a:r>
              <a:rPr lang="en-US" altLang="zh-CN" sz="2800" dirty="0" err="1">
                <a:latin typeface="Times New Roman" panose="02020603050405020304" pitchFamily="18" charset="0"/>
                <a:ea typeface="宋体" panose="02010600030101010101" pitchFamily="2" charset="-122"/>
              </a:rPr>
              <a:t>PyQt</a:t>
            </a:r>
            <a:r>
              <a:rPr lang="zh-CN" altLang="en-US" sz="2800" dirty="0">
                <a:latin typeface="Times New Roman" panose="02020603050405020304" pitchFamily="18" charset="0"/>
                <a:ea typeface="宋体" panose="02010600030101010101" pitchFamily="2" charset="-122"/>
              </a:rPr>
              <a:t>等</a:t>
            </a:r>
            <a:r>
              <a:rPr lang="en-US" altLang="zh-CN" sz="2800" dirty="0">
                <a:latin typeface="Times New Roman" panose="02020603050405020304" pitchFamily="18"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可让用户勾选常用查询条件，比如姓名，研究领域，发表论文等，也可以输入自由查询条件。</a:t>
            </a:r>
            <a:endParaRPr lang="en-US" altLang="zh-CN" sz="2800" dirty="0">
              <a:latin typeface="Times New Roman" panose="02020603050405020304" pitchFamily="18" charset="0"/>
              <a:ea typeface="宋体" panose="02010600030101010101" pitchFamily="2" charset="-122"/>
            </a:endParaRPr>
          </a:p>
          <a:p>
            <a:pPr marL="0" indent="0">
              <a:buNone/>
            </a:pPr>
            <a:r>
              <a:rPr lang="zh-CN" altLang="en-US" sz="3200" dirty="0">
                <a:latin typeface="Times New Roman" panose="02020603050405020304" pitchFamily="18" charset="0"/>
                <a:ea typeface="宋体" panose="02010600030101010101" pitchFamily="2" charset="-122"/>
              </a:rPr>
              <a:t>（</a:t>
            </a:r>
            <a:r>
              <a:rPr lang="en-US" altLang="zh-CN" sz="3200" dirty="0">
                <a:latin typeface="Times New Roman" panose="02020603050405020304" pitchFamily="18" charset="0"/>
                <a:ea typeface="宋体" panose="02010600030101010101" pitchFamily="2" charset="-122"/>
              </a:rPr>
              <a:t>2</a:t>
            </a:r>
            <a:r>
              <a:rPr lang="zh-CN" altLang="en-US" sz="3200"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支持多次迭代和模糊查询。 </a:t>
            </a:r>
            <a:r>
              <a:rPr lang="zh-CN" altLang="en-US" sz="3200" dirty="0">
                <a:latin typeface="Times New Roman" panose="02020603050405020304" pitchFamily="18" charset="0"/>
                <a:ea typeface="宋体" panose="02010600030101010101" pitchFamily="2" charset="-122"/>
              </a:rPr>
              <a:t>（</a:t>
            </a:r>
            <a:r>
              <a:rPr lang="zh-CN" altLang="en-US" sz="3200" b="1" dirty="0">
                <a:solidFill>
                  <a:srgbClr val="0070C0"/>
                </a:solidFill>
                <a:latin typeface="Times New Roman" panose="02020603050405020304" pitchFamily="18" charset="0"/>
                <a:ea typeface="宋体" panose="02010600030101010101" pitchFamily="2" charset="-122"/>
              </a:rPr>
              <a:t>可选</a:t>
            </a:r>
            <a:r>
              <a:rPr lang="zh-CN" altLang="en-US" sz="3200" dirty="0">
                <a:latin typeface="Times New Roman" panose="02020603050405020304" pitchFamily="18" charset="0"/>
                <a:ea typeface="宋体" panose="02010600030101010101" pitchFamily="2" charset="-122"/>
              </a:rPr>
              <a:t>）</a:t>
            </a:r>
            <a:endParaRPr lang="en-US" altLang="zh-CN" sz="3200" dirty="0">
              <a:latin typeface="Times New Roman" panose="02020603050405020304" pitchFamily="18" charset="0"/>
              <a:ea typeface="宋体" panose="02010600030101010101" pitchFamily="2" charset="-122"/>
            </a:endParaRPr>
          </a:p>
          <a:p>
            <a:pPr lvl="1"/>
            <a:r>
              <a:rPr lang="zh-CN" altLang="en-US" sz="2800" dirty="0">
                <a:latin typeface="Times New Roman" panose="02020603050405020304" pitchFamily="18" charset="0"/>
                <a:ea typeface="宋体" panose="02010600030101010101" pitchFamily="2" charset="-122"/>
              </a:rPr>
              <a:t>比如输入一个查询条件，发现查询结果为空，为了尽可能获得相关的查询结果，可以使用放宽查询条件的方案。比如精确匹配查询条件“机器翻译”，发现查询为空，可以再次查询包含“机器”</a:t>
            </a:r>
            <a:r>
              <a:rPr lang="en-US" altLang="zh-CN" sz="2800" dirty="0">
                <a:latin typeface="Times New Roman" panose="02020603050405020304" pitchFamily="18" charset="0"/>
                <a:ea typeface="宋体" panose="02010600030101010101" pitchFamily="2" charset="-122"/>
              </a:rPr>
              <a:t>or</a:t>
            </a:r>
            <a:r>
              <a:rPr lang="zh-CN" altLang="en-US" sz="2800" dirty="0">
                <a:latin typeface="Times New Roman" panose="02020603050405020304" pitchFamily="18" charset="0"/>
                <a:ea typeface="宋体" panose="02010600030101010101" pitchFamily="2" charset="-122"/>
              </a:rPr>
              <a:t>“翻译”的结果。</a:t>
            </a:r>
            <a:endParaRPr lang="en-US" altLang="zh-CN" sz="2800" dirty="0">
              <a:latin typeface="Times New Roman" panose="02020603050405020304" pitchFamily="18" charset="0"/>
              <a:ea typeface="宋体" panose="02010600030101010101" pitchFamily="2" charset="-122"/>
            </a:endParaRPr>
          </a:p>
          <a:p>
            <a:pPr lvl="1"/>
            <a:r>
              <a:rPr lang="zh-CN" altLang="en-US" sz="2800" dirty="0">
                <a:latin typeface="Times New Roman" panose="02020603050405020304" pitchFamily="18" charset="0"/>
                <a:ea typeface="宋体" panose="02010600030101010101" pitchFamily="2" charset="-122"/>
              </a:rPr>
              <a:t>模糊查询：</a:t>
            </a:r>
            <a:r>
              <a:rPr lang="zh-CN" altLang="en-US" sz="2800" dirty="0">
                <a:solidFill>
                  <a:schemeClr val="tx2"/>
                </a:solidFill>
              </a:rPr>
              <a:t>字符串模糊匹配魔法库</a:t>
            </a:r>
            <a:r>
              <a:rPr lang="en-US" altLang="zh-CN" sz="2800" dirty="0">
                <a:solidFill>
                  <a:schemeClr val="tx2"/>
                </a:solidFill>
              </a:rPr>
              <a:t>-</a:t>
            </a:r>
            <a:r>
              <a:rPr lang="en-US" altLang="zh-CN" sz="2800" dirty="0" err="1">
                <a:solidFill>
                  <a:schemeClr val="tx2"/>
                </a:solidFill>
              </a:rPr>
              <a:t>fuzzywuzzy</a:t>
            </a:r>
            <a:endParaRPr lang="zh-CN" altLang="en-US" sz="2800" dirty="0">
              <a:solidFill>
                <a:schemeClr val="tx2"/>
              </a:solidFill>
            </a:endParaRPr>
          </a:p>
          <a:p>
            <a:pPr marL="457200" lvl="1" indent="0">
              <a:buNone/>
            </a:pPr>
            <a:endParaRPr lang="zh-CN" altLang="en-US" sz="2800" dirty="0">
              <a:latin typeface="Times New Roman" panose="02020603050405020304" pitchFamily="18" charset="0"/>
              <a:ea typeface="宋体" panose="02010600030101010101" pitchFamily="2" charset="-122"/>
            </a:endParaRPr>
          </a:p>
        </p:txBody>
      </p:sp>
    </p:spTree>
    <p:custDataLst>
      <p:tags r:id="rId1"/>
    </p:custDataLst>
    <p:extLst>
      <p:ext uri="{BB962C8B-B14F-4D97-AF65-F5344CB8AC3E}">
        <p14:creationId xmlns:p14="http://schemas.microsoft.com/office/powerpoint/2010/main" val="1516388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D107-B9BF-EB32-123A-819E75F7771D}"/>
              </a:ext>
            </a:extLst>
          </p:cNvPr>
          <p:cNvSpPr>
            <a:spLocks noGrp="1"/>
          </p:cNvSpPr>
          <p:nvPr>
            <p:ph type="title"/>
          </p:nvPr>
        </p:nvSpPr>
        <p:spPr/>
        <p:txBody>
          <a:bodyPr/>
          <a:lstStyle/>
          <a:p>
            <a:r>
              <a:rPr lang="zh-CN" altLang="en-US" dirty="0"/>
              <a:t>优化方案选项（</a:t>
            </a:r>
            <a:r>
              <a:rPr lang="en-US" altLang="zh-CN" dirty="0"/>
              <a:t>2</a:t>
            </a:r>
            <a:r>
              <a:rPr lang="zh-CN" altLang="en-US" dirty="0"/>
              <a:t>）</a:t>
            </a:r>
          </a:p>
        </p:txBody>
      </p:sp>
      <p:sp>
        <p:nvSpPr>
          <p:cNvPr id="3" name="内容占位符 2">
            <a:extLst>
              <a:ext uri="{FF2B5EF4-FFF2-40B4-BE49-F238E27FC236}">
                <a16:creationId xmlns:a16="http://schemas.microsoft.com/office/drawing/2014/main" id="{C18FE809-3B42-193C-63AC-DF6AD59F91BA}"/>
              </a:ext>
            </a:extLst>
          </p:cNvPr>
          <p:cNvSpPr>
            <a:spLocks noGrp="1"/>
          </p:cNvSpPr>
          <p:nvPr>
            <p:ph idx="1"/>
          </p:nvPr>
        </p:nvSpPr>
        <p:spPr/>
        <p:txBody>
          <a:bodyPr>
            <a:normAutofit lnSpcReduction="10000"/>
          </a:bodyPr>
          <a:lstStyle/>
          <a:p>
            <a:pPr marL="0" indent="0">
              <a:buNone/>
            </a:pP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3</a:t>
            </a:r>
            <a:r>
              <a:rPr lang="zh-CN" altLang="en-US" b="1" dirty="0">
                <a:latin typeface="Times New Roman" panose="02020603050405020304" pitchFamily="18" charset="0"/>
                <a:ea typeface="宋体" panose="02010600030101010101" pitchFamily="2" charset="-122"/>
              </a:rPr>
              <a:t>）尝试使用机器学习或深度学习技术计算查询相关度（</a:t>
            </a:r>
            <a:r>
              <a:rPr lang="zh-CN" altLang="en-US" b="1" dirty="0">
                <a:solidFill>
                  <a:srgbClr val="0070C0"/>
                </a:solidFill>
                <a:latin typeface="Times New Roman" panose="02020603050405020304" pitchFamily="18" charset="0"/>
                <a:ea typeface="宋体" panose="02010600030101010101" pitchFamily="2" charset="-122"/>
              </a:rPr>
              <a:t>可选</a:t>
            </a:r>
            <a:r>
              <a:rPr lang="zh-CN" altLang="en-US"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a:p>
            <a:pPr marL="0" indent="0">
              <a:buNone/>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训练数据（</a:t>
            </a:r>
            <a:r>
              <a:rPr lang="en-US" altLang="zh-CN" b="1" dirty="0" err="1">
                <a:latin typeface="Times New Roman" panose="02020603050405020304" pitchFamily="18" charset="0"/>
                <a:ea typeface="宋体" panose="02010600030101010101" pitchFamily="2" charset="-122"/>
              </a:rPr>
              <a:t>Trec</a:t>
            </a:r>
            <a:r>
              <a:rPr lang="zh-CN" altLang="en-US"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a:p>
            <a:pPr lvl="1"/>
            <a:r>
              <a:rPr lang="zh-CN" altLang="en-US" dirty="0">
                <a:latin typeface="Times New Roman" panose="02020603050405020304" pitchFamily="18" charset="0"/>
                <a:ea typeface="宋体" panose="02010600030101010101" pitchFamily="2" charset="-122"/>
              </a:rPr>
              <a:t>比如采用</a:t>
            </a:r>
            <a:r>
              <a:rPr lang="en-US" altLang="zh-CN" dirty="0" err="1">
                <a:latin typeface="Times New Roman" panose="02020603050405020304" pitchFamily="18" charset="0"/>
                <a:ea typeface="宋体" panose="02010600030101010101" pitchFamily="2" charset="-122"/>
              </a:rPr>
              <a:t>SVM</a:t>
            </a:r>
            <a:r>
              <a:rPr lang="en-US" altLang="zh-CN" baseline="30000" dirty="0" err="1">
                <a:latin typeface="Times New Roman" panose="02020603050405020304" pitchFamily="18" charset="0"/>
                <a:ea typeface="宋体" panose="02010600030101010101" pitchFamily="2" charset="-122"/>
              </a:rPr>
              <a:t>rank</a:t>
            </a:r>
            <a:r>
              <a:rPr lang="zh-CN" altLang="en-US" dirty="0">
                <a:latin typeface="Times New Roman" panose="02020603050405020304" pitchFamily="18" charset="0"/>
                <a:ea typeface="宋体" panose="02010600030101010101" pitchFamily="2" charset="-122"/>
              </a:rPr>
              <a:t>对搜索结果进行排序（非</a:t>
            </a:r>
            <a:r>
              <a:rPr lang="en-US" altLang="zh-CN" dirty="0">
                <a:latin typeface="Times New Roman" panose="02020603050405020304" pitchFamily="18" charset="0"/>
                <a:ea typeface="宋体" panose="02010600030101010101" pitchFamily="2" charset="-122"/>
              </a:rPr>
              <a:t>BM25</a:t>
            </a:r>
            <a:r>
              <a:rPr lang="zh-CN" altLang="en-US" dirty="0">
                <a:latin typeface="Times New Roman" panose="02020603050405020304" pitchFamily="18" charset="0"/>
                <a:ea typeface="宋体" panose="02010600030101010101" pitchFamily="2" charset="-122"/>
              </a:rPr>
              <a:t>等直接计算分值再排序的方法）</a:t>
            </a:r>
            <a:endParaRPr lang="en-US" altLang="zh-CN" dirty="0">
              <a:latin typeface="Times New Roman" panose="02020603050405020304" pitchFamily="18" charset="0"/>
              <a:ea typeface="宋体" panose="02010600030101010101" pitchFamily="2" charset="-122"/>
            </a:endParaRPr>
          </a:p>
          <a:p>
            <a:pPr lvl="1"/>
            <a:r>
              <a:rPr lang="zh-CN" altLang="en-US" dirty="0">
                <a:latin typeface="Times New Roman" panose="02020603050405020304" pitchFamily="18" charset="0"/>
                <a:ea typeface="宋体" panose="02010600030101010101" pitchFamily="2" charset="-122"/>
              </a:rPr>
              <a:t>比如可以使用预训练模型</a:t>
            </a:r>
            <a:r>
              <a:rPr lang="en-US" altLang="zh-CN" dirty="0">
                <a:latin typeface="Times New Roman" panose="02020603050405020304" pitchFamily="18" charset="0"/>
                <a:ea typeface="宋体" panose="02010600030101010101" pitchFamily="2" charset="-122"/>
              </a:rPr>
              <a:t>BERT</a:t>
            </a:r>
            <a:r>
              <a:rPr lang="zh-CN" altLang="en-US" dirty="0">
                <a:latin typeface="Times New Roman" panose="02020603050405020304" pitchFamily="18" charset="0"/>
                <a:ea typeface="宋体" panose="02010600030101010101" pitchFamily="2" charset="-122"/>
              </a:rPr>
              <a:t>（因计算资源限制，可以不微调，直接调用</a:t>
            </a:r>
            <a:r>
              <a:rPr lang="en-US" altLang="zh-CN" dirty="0">
                <a:latin typeface="Times New Roman" panose="02020603050405020304" pitchFamily="18" charset="0"/>
                <a:ea typeface="宋体" panose="02010600030101010101" pitchFamily="2" charset="-122"/>
              </a:rPr>
              <a:t>BERT</a:t>
            </a:r>
            <a:r>
              <a:rPr lang="zh-CN" altLang="en-US" dirty="0">
                <a:latin typeface="Times New Roman" panose="02020603050405020304" pitchFamily="18" charset="0"/>
                <a:ea typeface="宋体" panose="02010600030101010101" pitchFamily="2" charset="-122"/>
              </a:rPr>
              <a:t>对句子编码的</a:t>
            </a:r>
            <a:r>
              <a:rPr lang="en-US" altLang="zh-CN" dirty="0">
                <a:latin typeface="Times New Roman" panose="02020603050405020304" pitchFamily="18" charset="0"/>
                <a:ea typeface="宋体" panose="02010600030101010101" pitchFamily="2" charset="-122"/>
              </a:rPr>
              <a:t>[</a:t>
            </a:r>
            <a:r>
              <a:rPr lang="en-US" altLang="zh-CN" dirty="0" err="1">
                <a:latin typeface="Times New Roman" panose="02020603050405020304" pitchFamily="18" charset="0"/>
                <a:ea typeface="宋体" panose="02010600030101010101" pitchFamily="2" charset="-122"/>
              </a:rPr>
              <a:t>cls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部分，但性能不会太好），先对查询语句和待搜索文档集中的文档进行稠密向量表示，然后计算相似度。</a:t>
            </a:r>
            <a:r>
              <a:rPr lang="en-US" altLang="zh-CN" dirty="0">
                <a:latin typeface="Times New Roman" panose="02020603050405020304" pitchFamily="18" charset="0"/>
                <a:ea typeface="宋体" panose="02010600030101010101" pitchFamily="2" charset="-122"/>
              </a:rPr>
              <a:t>    </a:t>
            </a:r>
          </a:p>
          <a:p>
            <a:pPr lvl="1"/>
            <a:r>
              <a:rPr lang="zh-CN" altLang="en-US" dirty="0">
                <a:latin typeface="Times New Roman" panose="02020603050405020304" pitchFamily="18" charset="0"/>
                <a:ea typeface="宋体" panose="02010600030101010101" pitchFamily="2" charset="-122"/>
              </a:rPr>
              <a:t>提示：可百度 “</a:t>
            </a:r>
            <a:r>
              <a:rPr lang="en-US" altLang="zh-CN" dirty="0">
                <a:latin typeface="Times New Roman" panose="02020603050405020304" pitchFamily="18" charset="0"/>
                <a:ea typeface="宋体" panose="02010600030101010101" pitchFamily="2" charset="-122"/>
              </a:rPr>
              <a:t>BERT </a:t>
            </a:r>
            <a:r>
              <a:rPr lang="zh-CN" altLang="en-US" dirty="0">
                <a:latin typeface="Times New Roman" panose="02020603050405020304" pitchFamily="18" charset="0"/>
                <a:ea typeface="宋体" panose="02010600030101010101" pitchFamily="2" charset="-122"/>
              </a:rPr>
              <a:t>相似度计算”搜相关技术实现文档</a:t>
            </a:r>
            <a:endParaRPr lang="en-US" altLang="zh-CN" dirty="0">
              <a:latin typeface="Times New Roman" panose="02020603050405020304" pitchFamily="18" charset="0"/>
              <a:ea typeface="宋体" panose="02010600030101010101" pitchFamily="2" charset="-122"/>
            </a:endParaRPr>
          </a:p>
          <a:p>
            <a:pPr marL="0" indent="0">
              <a:buNone/>
            </a:pP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4</a:t>
            </a:r>
            <a:r>
              <a:rPr lang="zh-CN" altLang="en-US" b="1" dirty="0">
                <a:latin typeface="Times New Roman" panose="02020603050405020304" pitchFamily="18" charset="0"/>
                <a:ea typeface="宋体" panose="02010600030101010101" pitchFamily="2" charset="-122"/>
              </a:rPr>
              <a:t>）尝试使用大语言模型优化排序（</a:t>
            </a:r>
            <a:r>
              <a:rPr lang="zh-CN" altLang="en-US" b="1" dirty="0">
                <a:solidFill>
                  <a:srgbClr val="0070C0"/>
                </a:solidFill>
                <a:latin typeface="Times New Roman" panose="02020603050405020304" pitchFamily="18" charset="0"/>
                <a:ea typeface="宋体" panose="02010600030101010101" pitchFamily="2" charset="-122"/>
              </a:rPr>
              <a:t>可选</a:t>
            </a:r>
            <a:r>
              <a:rPr lang="zh-CN" altLang="en-US"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a:p>
            <a:pPr lvl="1"/>
            <a:r>
              <a:rPr lang="zh-CN" altLang="en-US" dirty="0">
                <a:latin typeface="Times New Roman" panose="02020603050405020304" pitchFamily="18" charset="0"/>
                <a:ea typeface="宋体" panose="02010600030101010101" pitchFamily="2" charset="-122"/>
              </a:rPr>
              <a:t>比如使用</a:t>
            </a:r>
            <a:r>
              <a:rPr lang="en-US" altLang="zh-CN" dirty="0" err="1">
                <a:latin typeface="Times New Roman" panose="02020603050405020304" pitchFamily="18" charset="0"/>
                <a:ea typeface="宋体" panose="02010600030101010101" pitchFamily="2" charset="-122"/>
              </a:rPr>
              <a:t>deepseek</a:t>
            </a:r>
            <a:r>
              <a:rPr lang="zh-CN" altLang="en-US" dirty="0">
                <a:latin typeface="Times New Roman" panose="02020603050405020304" pitchFamily="18" charset="0"/>
                <a:ea typeface="宋体" panose="02010600030101010101" pitchFamily="2" charset="-122"/>
              </a:rPr>
              <a:t>或</a:t>
            </a:r>
            <a:r>
              <a:rPr lang="en-US" altLang="zh-CN" dirty="0">
                <a:latin typeface="Times New Roman" panose="02020603050405020304" pitchFamily="18" charset="0"/>
                <a:ea typeface="宋体" panose="02010600030101010101" pitchFamily="2" charset="-122"/>
              </a:rPr>
              <a:t>Qwen</a:t>
            </a:r>
            <a:r>
              <a:rPr lang="zh-CN" altLang="en-US" dirty="0">
                <a:latin typeface="Times New Roman" panose="02020603050405020304" pitchFamily="18" charset="0"/>
                <a:ea typeface="宋体" panose="02010600030101010101" pitchFamily="2" charset="-122"/>
              </a:rPr>
              <a:t>，建议调用</a:t>
            </a:r>
            <a:r>
              <a:rPr lang="en-US" altLang="zh-CN" dirty="0" err="1">
                <a:latin typeface="Times New Roman" panose="02020603050405020304" pitchFamily="18" charset="0"/>
                <a:ea typeface="宋体" panose="02010600030101010101" pitchFamily="2" charset="-122"/>
              </a:rPr>
              <a:t>deepseek</a:t>
            </a:r>
            <a:r>
              <a:rPr lang="en-US" altLang="zh-CN" dirty="0">
                <a:latin typeface="Times New Roman" panose="02020603050405020304" pitchFamily="18" charset="0"/>
                <a:ea typeface="宋体" panose="02010600030101010101" pitchFamily="2" charset="-122"/>
              </a:rPr>
              <a:t> API</a:t>
            </a:r>
          </a:p>
          <a:p>
            <a:pPr lvl="1"/>
            <a:r>
              <a:rPr lang="zh-CN" altLang="en-US" dirty="0">
                <a:latin typeface="Times New Roman" panose="02020603050405020304" pitchFamily="18" charset="0"/>
                <a:ea typeface="宋体" panose="02010600030101010101" pitchFamily="2" charset="-122"/>
              </a:rPr>
              <a:t>传入指令，同时传入查询条件和用基础</a:t>
            </a:r>
            <a:r>
              <a:rPr lang="en-US" altLang="zh-CN" dirty="0">
                <a:latin typeface="Times New Roman" panose="02020603050405020304" pitchFamily="18" charset="0"/>
                <a:ea typeface="宋体" panose="02010600030101010101" pitchFamily="2" charset="-122"/>
              </a:rPr>
              <a:t>IR</a:t>
            </a:r>
            <a:r>
              <a:rPr lang="zh-CN" altLang="en-US" dirty="0">
                <a:latin typeface="Times New Roman" panose="02020603050405020304" pitchFamily="18" charset="0"/>
                <a:ea typeface="宋体" panose="02010600030101010101" pitchFamily="2" charset="-122"/>
              </a:rPr>
              <a:t>系统锁定的几个相关文档，然后让它帮助生成查询语句和这些相关文档的相似度分值</a:t>
            </a:r>
            <a:endParaRPr lang="en-US" altLang="zh-CN" dirty="0">
              <a:latin typeface="Times New Roman" panose="02020603050405020304" pitchFamily="18" charset="0"/>
              <a:ea typeface="宋体" panose="02010600030101010101" pitchFamily="2" charset="-122"/>
            </a:endParaRPr>
          </a:p>
          <a:p>
            <a:endParaRPr lang="zh-CN" altLang="en-US" dirty="0"/>
          </a:p>
        </p:txBody>
      </p:sp>
    </p:spTree>
    <p:custDataLst>
      <p:tags r:id="rId1"/>
    </p:custDataLst>
    <p:extLst>
      <p:ext uri="{BB962C8B-B14F-4D97-AF65-F5344CB8AC3E}">
        <p14:creationId xmlns:p14="http://schemas.microsoft.com/office/powerpoint/2010/main" val="792860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CF3981-5B9F-FC3B-F5D0-C2043864112B}"/>
              </a:ext>
            </a:extLst>
          </p:cNvPr>
          <p:cNvSpPr>
            <a:spLocks noGrp="1"/>
          </p:cNvSpPr>
          <p:nvPr>
            <p:ph type="title"/>
          </p:nvPr>
        </p:nvSpPr>
        <p:spPr>
          <a:xfrm>
            <a:off x="676656" y="133304"/>
            <a:ext cx="10515600" cy="421259"/>
          </a:xfrm>
        </p:spPr>
        <p:txBody>
          <a:bodyPr>
            <a:normAutofit fontScale="90000"/>
          </a:bodyPr>
          <a:lstStyle/>
          <a:p>
            <a:r>
              <a:rPr lang="zh-CN" altLang="en-US" sz="4000" dirty="0"/>
              <a:t>一个</a:t>
            </a:r>
            <a:r>
              <a:rPr lang="en-US" altLang="zh-CN" sz="4000" dirty="0" err="1"/>
              <a:t>deepseek</a:t>
            </a:r>
            <a:r>
              <a:rPr lang="zh-CN" altLang="en-US" sz="4000" dirty="0"/>
              <a:t>指令样例</a:t>
            </a:r>
            <a:endParaRPr lang="zh-CN" altLang="en-US" dirty="0"/>
          </a:p>
        </p:txBody>
      </p:sp>
      <p:sp>
        <p:nvSpPr>
          <p:cNvPr id="3" name="内容占位符 2">
            <a:extLst>
              <a:ext uri="{FF2B5EF4-FFF2-40B4-BE49-F238E27FC236}">
                <a16:creationId xmlns:a16="http://schemas.microsoft.com/office/drawing/2014/main" id="{7450CAF0-17D8-5429-CC34-1187A4B07C2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BBE0098A-7C49-D62C-BBE4-9A3380C12733}"/>
              </a:ext>
            </a:extLst>
          </p:cNvPr>
          <p:cNvPicPr>
            <a:picLocks noChangeAspect="1"/>
          </p:cNvPicPr>
          <p:nvPr/>
        </p:nvPicPr>
        <p:blipFill>
          <a:blip r:embed="rId3"/>
          <a:stretch>
            <a:fillRect/>
          </a:stretch>
        </p:blipFill>
        <p:spPr>
          <a:xfrm>
            <a:off x="676656" y="690181"/>
            <a:ext cx="11113008" cy="5823885"/>
          </a:xfrm>
          <a:prstGeom prst="rect">
            <a:avLst/>
          </a:prstGeom>
        </p:spPr>
      </p:pic>
    </p:spTree>
    <p:custDataLst>
      <p:tags r:id="rId1"/>
    </p:custDataLst>
    <p:extLst>
      <p:ext uri="{BB962C8B-B14F-4D97-AF65-F5344CB8AC3E}">
        <p14:creationId xmlns:p14="http://schemas.microsoft.com/office/powerpoint/2010/main" val="859348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0F1B3-9178-8163-7FB0-399E963A435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8E3FECB-09A2-13ED-52FA-1F3D1A2F337D}"/>
              </a:ext>
            </a:extLst>
          </p:cNvPr>
          <p:cNvSpPr>
            <a:spLocks noGrp="1"/>
          </p:cNvSpPr>
          <p:nvPr>
            <p:ph type="title"/>
          </p:nvPr>
        </p:nvSpPr>
        <p:spPr/>
        <p:txBody>
          <a:bodyPr/>
          <a:lstStyle/>
          <a:p>
            <a:r>
              <a:rPr lang="zh-CN" altLang="en-US" dirty="0"/>
              <a:t>优化方案选项（</a:t>
            </a:r>
            <a:r>
              <a:rPr lang="en-US" altLang="zh-CN" dirty="0"/>
              <a:t>3</a:t>
            </a:r>
            <a:r>
              <a:rPr lang="zh-CN" altLang="en-US" dirty="0"/>
              <a:t>）</a:t>
            </a:r>
          </a:p>
        </p:txBody>
      </p:sp>
      <p:sp>
        <p:nvSpPr>
          <p:cNvPr id="3" name="内容占位符 2">
            <a:extLst>
              <a:ext uri="{FF2B5EF4-FFF2-40B4-BE49-F238E27FC236}">
                <a16:creationId xmlns:a16="http://schemas.microsoft.com/office/drawing/2014/main" id="{312745D3-F2FB-2A5F-896C-C7FCE914A027}"/>
              </a:ext>
            </a:extLst>
          </p:cNvPr>
          <p:cNvSpPr>
            <a:spLocks noGrp="1"/>
          </p:cNvSpPr>
          <p:nvPr>
            <p:ph idx="1"/>
          </p:nvPr>
        </p:nvSpPr>
        <p:spPr/>
        <p:txBody>
          <a:bodyPr>
            <a:normAutofit fontScale="92500" lnSpcReduction="20000"/>
          </a:bodyPr>
          <a:lstStyle/>
          <a:p>
            <a:pPr marL="0" indent="0">
              <a:buNone/>
            </a:pP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5</a:t>
            </a:r>
            <a:r>
              <a:rPr lang="zh-CN" altLang="en-US" b="1" dirty="0">
                <a:latin typeface="Times New Roman" panose="02020603050405020304" pitchFamily="18" charset="0"/>
                <a:ea typeface="宋体" panose="02010600030101010101" pitchFamily="2" charset="-122"/>
              </a:rPr>
              <a:t>）未在上述列表中的其它优化方案</a:t>
            </a:r>
            <a:endParaRPr lang="en-US" altLang="zh-CN" b="1" dirty="0">
              <a:latin typeface="Times New Roman" panose="02020603050405020304" pitchFamily="18" charset="0"/>
              <a:ea typeface="宋体" panose="02010600030101010101" pitchFamily="2" charset="-122"/>
            </a:endParaRPr>
          </a:p>
          <a:p>
            <a:pPr marL="0" indent="0">
              <a:buNone/>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比如，</a:t>
            </a:r>
            <a:endParaRPr lang="en-US" altLang="zh-CN" b="1" dirty="0">
              <a:latin typeface="Times New Roman" panose="02020603050405020304" pitchFamily="18" charset="0"/>
              <a:ea typeface="宋体" panose="02010600030101010101" pitchFamily="2" charset="-122"/>
            </a:endParaRPr>
          </a:p>
          <a:p>
            <a:pPr marL="0" indent="0">
              <a:buNone/>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拼写检查</a:t>
            </a:r>
            <a:endParaRPr lang="en-US" altLang="zh-CN" b="1" dirty="0">
              <a:latin typeface="Times New Roman" panose="02020603050405020304" pitchFamily="18" charset="0"/>
              <a:ea typeface="宋体" panose="02010600030101010101" pitchFamily="2" charset="-122"/>
            </a:endParaRPr>
          </a:p>
          <a:p>
            <a:pPr marL="0" indent="0">
              <a:buNone/>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压缩倒排索引存储空间</a:t>
            </a:r>
            <a:endParaRPr lang="en-US" altLang="zh-CN" b="1" dirty="0">
              <a:latin typeface="Times New Roman" panose="02020603050405020304" pitchFamily="18" charset="0"/>
              <a:ea typeface="宋体" panose="02010600030101010101" pitchFamily="2" charset="-122"/>
            </a:endParaRPr>
          </a:p>
          <a:p>
            <a:pPr marL="0" indent="0">
              <a:buNone/>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缩短查询时间</a:t>
            </a:r>
            <a:endParaRPr lang="en-US" altLang="zh-CN" b="1" dirty="0">
              <a:latin typeface="Times New Roman" panose="02020603050405020304" pitchFamily="18" charset="0"/>
              <a:ea typeface="宋体" panose="02010600030101010101" pitchFamily="2" charset="-122"/>
            </a:endParaRPr>
          </a:p>
          <a:p>
            <a:pPr marL="0" indent="0">
              <a:buNone/>
            </a:pPr>
            <a:r>
              <a:rPr lang="zh-CN" altLang="en-US" b="1" dirty="0">
                <a:latin typeface="Times New Roman" panose="02020603050405020304" pitchFamily="18" charset="0"/>
                <a:ea typeface="宋体" panose="02010600030101010101" pitchFamily="2" charset="-122"/>
              </a:rPr>
              <a:t>           垃圾信息过滤</a:t>
            </a:r>
            <a:endParaRPr lang="en-US" altLang="zh-CN" b="1" dirty="0">
              <a:latin typeface="Times New Roman" panose="02020603050405020304" pitchFamily="18" charset="0"/>
              <a:ea typeface="宋体" panose="02010600030101010101" pitchFamily="2" charset="-122"/>
            </a:endParaRPr>
          </a:p>
          <a:p>
            <a:pPr marL="0" indent="0">
              <a:buNone/>
            </a:pPr>
            <a:r>
              <a:rPr lang="en-US" altLang="zh-CN" b="1" dirty="0">
                <a:latin typeface="Times New Roman" panose="02020603050405020304" pitchFamily="18" charset="0"/>
                <a:ea typeface="宋体" panose="02010600030101010101" pitchFamily="2" charset="-122"/>
              </a:rPr>
              <a:t>           ……</a:t>
            </a:r>
          </a:p>
          <a:p>
            <a:pPr marL="0" indent="0">
              <a:buNone/>
            </a:pPr>
            <a:endParaRPr lang="en-US" altLang="zh-CN" b="1" dirty="0">
              <a:latin typeface="Times New Roman" panose="02020603050405020304" pitchFamily="18" charset="0"/>
              <a:ea typeface="宋体" panose="02010600030101010101" pitchFamily="2" charset="-122"/>
            </a:endParaRPr>
          </a:p>
          <a:p>
            <a:pPr marL="0" indent="0">
              <a:buNone/>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请根据自己的兴趣尽情发挥</a:t>
            </a:r>
            <a:r>
              <a:rPr lang="zh-CN" altLang="en-US" b="1" dirty="0">
                <a:latin typeface="Times New Roman" panose="02020603050405020304" pitchFamily="18" charset="0"/>
                <a:ea typeface="宋体" panose="02010600030101010101" pitchFamily="2" charset="-122"/>
                <a:sym typeface="Wingdings" panose="05000000000000000000" pitchFamily="2" charset="2"/>
              </a:rPr>
              <a:t></a:t>
            </a:r>
            <a:endParaRPr lang="en-US" altLang="zh-CN" b="1" dirty="0">
              <a:latin typeface="Times New Roman" panose="02020603050405020304" pitchFamily="18" charset="0"/>
              <a:ea typeface="宋体" panose="02010600030101010101" pitchFamily="2" charset="-122"/>
              <a:sym typeface="Wingdings" panose="05000000000000000000" pitchFamily="2" charset="2"/>
            </a:endParaRPr>
          </a:p>
          <a:p>
            <a:pPr marL="0" indent="0">
              <a:buNone/>
            </a:pPr>
            <a:r>
              <a:rPr lang="en-US" altLang="zh-CN" b="1" dirty="0">
                <a:latin typeface="Times New Roman" panose="02020603050405020304" pitchFamily="18" charset="0"/>
                <a:ea typeface="宋体" panose="02010600030101010101" pitchFamily="2" charset="-122"/>
                <a:sym typeface="Wingdings" panose="05000000000000000000" pitchFamily="2" charset="2"/>
              </a:rPr>
              <a:t>        </a:t>
            </a:r>
            <a:r>
              <a:rPr lang="zh-CN" altLang="en-US" b="1" dirty="0">
                <a:latin typeface="Times New Roman" panose="02020603050405020304" pitchFamily="18" charset="0"/>
                <a:ea typeface="宋体" panose="02010600030101010101" pitchFamily="2" charset="-122"/>
                <a:sym typeface="Wingdings" panose="05000000000000000000" pitchFamily="2" charset="2"/>
              </a:rPr>
              <a:t>实验报告总结部分务必说明你所实现的优化方案</a:t>
            </a:r>
            <a:endParaRPr lang="en-US" altLang="zh-CN" b="1" dirty="0">
              <a:latin typeface="Times New Roman" panose="02020603050405020304" pitchFamily="18" charset="0"/>
              <a:ea typeface="宋体" panose="02010600030101010101" pitchFamily="2" charset="-122"/>
            </a:endParaRPr>
          </a:p>
          <a:p>
            <a:pPr marL="0" indent="0">
              <a:buNone/>
            </a:pPr>
            <a:endParaRPr lang="en-US" altLang="zh-CN" b="1" dirty="0">
              <a:latin typeface="Times New Roman" panose="02020603050405020304" pitchFamily="18" charset="0"/>
              <a:ea typeface="宋体" panose="02010600030101010101" pitchFamily="2" charset="-122"/>
            </a:endParaRPr>
          </a:p>
          <a:p>
            <a:pPr marL="0" indent="0">
              <a:buNone/>
            </a:pPr>
            <a:endParaRPr lang="zh-CN" altLang="en-US" dirty="0"/>
          </a:p>
        </p:txBody>
      </p:sp>
    </p:spTree>
    <p:custDataLst>
      <p:tags r:id="rId1"/>
    </p:custDataLst>
    <p:extLst>
      <p:ext uri="{BB962C8B-B14F-4D97-AF65-F5344CB8AC3E}">
        <p14:creationId xmlns:p14="http://schemas.microsoft.com/office/powerpoint/2010/main" val="3956480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其它注意点</a:t>
            </a:r>
          </a:p>
        </p:txBody>
      </p:sp>
      <p:sp>
        <p:nvSpPr>
          <p:cNvPr id="3" name="内容占位符 2"/>
          <p:cNvSpPr>
            <a:spLocks noGrp="1"/>
          </p:cNvSpPr>
          <p:nvPr>
            <p:ph idx="1"/>
          </p:nvPr>
        </p:nvSpPr>
        <p:spPr/>
        <p:txBody>
          <a:bodyPr/>
          <a:lstStyle/>
          <a:p>
            <a:pPr marL="0" indent="0">
              <a:buNone/>
            </a:pPr>
            <a:r>
              <a:rPr lang="zh-CN" altLang="en-US" b="1" dirty="0">
                <a:latin typeface="宋体" panose="02010600030101010101" pitchFamily="2" charset="-122"/>
                <a:ea typeface="宋体" panose="02010600030101010101" pitchFamily="2" charset="-122"/>
              </a:rPr>
              <a:t>爬取基本方法和注意事项：</a:t>
            </a:r>
            <a:endParaRPr lang="en-US" altLang="zh-CN"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以主页作为起点，根据其中包含的链接，递归爬取，直到没有新的页面可以爬到</a:t>
            </a:r>
            <a:endParaRPr lang="en-US" altLang="zh-CN"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要记录已经爬取的网页，避免重复爬取（死循环）</a:t>
            </a:r>
            <a:endParaRPr lang="en-US" altLang="zh-CN"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为了避免爬不是目标对象的网页，可以检查网址，例如南大网页都包含</a:t>
            </a:r>
            <a:r>
              <a:rPr lang="en-US" altLang="zh-CN" sz="2400" b="1" dirty="0">
                <a:latin typeface="宋体" panose="02010600030101010101" pitchFamily="2" charset="-122"/>
                <a:ea typeface="宋体" panose="02010600030101010101" pitchFamily="2" charset="-122"/>
              </a:rPr>
              <a:t>nju.edu.cn</a:t>
            </a:r>
          </a:p>
          <a:p>
            <a:r>
              <a:rPr lang="zh-CN" altLang="en-US" sz="2400" b="1" dirty="0">
                <a:latin typeface="宋体" panose="02010600030101010101" pitchFamily="2" charset="-122"/>
                <a:ea typeface="宋体" panose="02010600030101010101" pitchFamily="2" charset="-122"/>
              </a:rPr>
              <a:t>只爬静态页面（后缀是</a:t>
            </a:r>
            <a:r>
              <a:rPr lang="en-US" altLang="zh-CN" sz="2400" b="1" dirty="0" err="1">
                <a:latin typeface="宋体" panose="02010600030101010101" pitchFamily="2" charset="-122"/>
                <a:ea typeface="宋体" panose="02010600030101010101" pitchFamily="2" charset="-122"/>
              </a:rPr>
              <a:t>htm</a:t>
            </a:r>
            <a:r>
              <a:rPr lang="zh-CN" altLang="en-US" sz="2400" b="1" dirty="0">
                <a:latin typeface="宋体" panose="02010600030101010101" pitchFamily="2" charset="-122"/>
                <a:ea typeface="宋体" panose="02010600030101010101" pitchFamily="2" charset="-122"/>
              </a:rPr>
              <a:t>或</a:t>
            </a:r>
            <a:r>
              <a:rPr lang="en-US" altLang="zh-CN" sz="2400" b="1" dirty="0">
                <a:latin typeface="宋体" panose="02010600030101010101" pitchFamily="2" charset="-122"/>
                <a:ea typeface="宋体" panose="02010600030101010101" pitchFamily="2" charset="-122"/>
              </a:rPr>
              <a:t>html</a:t>
            </a:r>
            <a:r>
              <a:rPr lang="zh-CN" altLang="en-US" sz="2400" b="1" dirty="0">
                <a:latin typeface="宋体" panose="02010600030101010101" pitchFamily="2" charset="-122"/>
                <a:ea typeface="宋体" panose="02010600030101010101" pitchFamily="2" charset="-122"/>
              </a:rPr>
              <a:t>的网页）</a:t>
            </a:r>
            <a:endParaRPr lang="en-US" altLang="zh-CN"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为了避免给机构的服务器太大的压力，同学们可以考虑爬</a:t>
            </a:r>
            <a:r>
              <a:rPr lang="en-US" altLang="zh-CN" sz="2400" b="1" dirty="0">
                <a:latin typeface="宋体" panose="02010600030101010101" pitchFamily="2" charset="-122"/>
                <a:ea typeface="宋体" panose="02010600030101010101" pitchFamily="2" charset="-122"/>
              </a:rPr>
              <a:t>10</a:t>
            </a:r>
            <a:r>
              <a:rPr lang="zh-CN" altLang="en-US" sz="2400" b="1" dirty="0">
                <a:latin typeface="宋体" panose="02010600030101010101" pitchFamily="2" charset="-122"/>
                <a:ea typeface="宋体" panose="02010600030101010101" pitchFamily="2" charset="-122"/>
              </a:rPr>
              <a:t>个网页就暂停；爬的时候，间隔合适的时间（随机数几秒）。</a:t>
            </a:r>
            <a:endParaRPr lang="en-US" altLang="zh-CN" sz="2400" b="1" dirty="0">
              <a:latin typeface="宋体" panose="02010600030101010101" pitchFamily="2" charset="-122"/>
              <a:ea typeface="宋体" panose="02010600030101010101" pitchFamily="2" charset="-122"/>
            </a:endParaRPr>
          </a:p>
          <a:p>
            <a:pPr marL="0" indent="0">
              <a:buNone/>
            </a:pPr>
            <a:endParaRPr lang="zh-CN" altLang="en-US" dirty="0"/>
          </a:p>
        </p:txBody>
      </p:sp>
    </p:spTree>
    <p:custDataLst>
      <p:tags r:id="rId1"/>
    </p:custDataLst>
    <p:extLst>
      <p:ext uri="{BB962C8B-B14F-4D97-AF65-F5344CB8AC3E}">
        <p14:creationId xmlns:p14="http://schemas.microsoft.com/office/powerpoint/2010/main" val="22735488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ETAGS" val="[]"/>
</p:tagLst>
</file>

<file path=ppt/tags/tag2.xml><?xml version="1.0" encoding="utf-8"?>
<p:tagLst xmlns:a="http://schemas.openxmlformats.org/drawingml/2006/main" xmlns:r="http://schemas.openxmlformats.org/officeDocument/2006/relationships" xmlns:p="http://schemas.openxmlformats.org/presentationml/2006/main">
  <p:tag name="SLIDETAGS" val="[]"/>
</p:tagLst>
</file>

<file path=ppt/tags/tag3.xml><?xml version="1.0" encoding="utf-8"?>
<p:tagLst xmlns:a="http://schemas.openxmlformats.org/drawingml/2006/main" xmlns:r="http://schemas.openxmlformats.org/officeDocument/2006/relationships" xmlns:p="http://schemas.openxmlformats.org/presentationml/2006/main">
  <p:tag name="SLIDETAGS" val="[]"/>
</p:tagLst>
</file>

<file path=ppt/tags/tag4.xml><?xml version="1.0" encoding="utf-8"?>
<p:tagLst xmlns:a="http://schemas.openxmlformats.org/drawingml/2006/main" xmlns:r="http://schemas.openxmlformats.org/officeDocument/2006/relationships" xmlns:p="http://schemas.openxmlformats.org/presentationml/2006/main">
  <p:tag name="SLIDETAGS" val="[]"/>
</p:tagLst>
</file>

<file path=ppt/tags/tag5.xml><?xml version="1.0" encoding="utf-8"?>
<p:tagLst xmlns:a="http://schemas.openxmlformats.org/drawingml/2006/main" xmlns:r="http://schemas.openxmlformats.org/officeDocument/2006/relationships" xmlns:p="http://schemas.openxmlformats.org/presentationml/2006/main">
  <p:tag name="SLIDETAGS" val="[]"/>
</p:tagLst>
</file>

<file path=ppt/tags/tag6.xml><?xml version="1.0" encoding="utf-8"?>
<p:tagLst xmlns:a="http://schemas.openxmlformats.org/drawingml/2006/main" xmlns:r="http://schemas.openxmlformats.org/officeDocument/2006/relationships" xmlns:p="http://schemas.openxmlformats.org/presentationml/2006/main">
  <p:tag name="SLIDETAGS" val="[]"/>
</p:tagLst>
</file>

<file path=ppt/tags/tag7.xml><?xml version="1.0" encoding="utf-8"?>
<p:tagLst xmlns:a="http://schemas.openxmlformats.org/drawingml/2006/main" xmlns:r="http://schemas.openxmlformats.org/officeDocument/2006/relationships" xmlns:p="http://schemas.openxmlformats.org/presentationml/2006/main">
  <p:tag name="SLIDETAGS" val="[]"/>
</p:tagLst>
</file>

<file path=ppt/tags/tag8.xml><?xml version="1.0" encoding="utf-8"?>
<p:tagLst xmlns:a="http://schemas.openxmlformats.org/drawingml/2006/main" xmlns:r="http://schemas.openxmlformats.org/officeDocument/2006/relationships" xmlns:p="http://schemas.openxmlformats.org/presentationml/2006/main">
  <p:tag name="SLIDETAGS" val="[]"/>
</p:tagLst>
</file>

<file path=ppt/tags/tag9.xml><?xml version="1.0" encoding="utf-8"?>
<p:tagLst xmlns:a="http://schemas.openxmlformats.org/drawingml/2006/main" xmlns:r="http://schemas.openxmlformats.org/officeDocument/2006/relationships" xmlns:p="http://schemas.openxmlformats.org/presentationml/2006/main">
  <p:tag name="SLIDETAGS" val="[]"/>
</p:tagLst>
</file>

<file path=ppt/tags/tag10.xml><?xml version="1.0" encoding="utf-8"?>
<p:tagLst xmlns:a="http://schemas.openxmlformats.org/drawingml/2006/main" xmlns:r="http://schemas.openxmlformats.org/officeDocument/2006/relationships" xmlns:p="http://schemas.openxmlformats.org/presentationml/2006/main">
  <p:tag name="SLIDETAGS" val="[]"/>
</p:tagLst>
</file>

<file path=ppt/tags/tag11.xml><?xml version="1.0" encoding="utf-8"?>
<p:tagLst xmlns:a="http://schemas.openxmlformats.org/drawingml/2006/main" xmlns:r="http://schemas.openxmlformats.org/officeDocument/2006/relationships" xmlns:p="http://schemas.openxmlformats.org/presentationml/2006/main">
  <p:tag name="SLIDETAGS"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TotalTime>
  <Words>937</Words>
  <Application>Microsoft Office PowerPoint</Application>
  <PresentationFormat>宽屏</PresentationFormat>
  <Paragraphs>63</Paragraphs>
  <Slides>11</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等线</vt:lpstr>
      <vt:lpstr>等线 Light</vt:lpstr>
      <vt:lpstr>宋体</vt:lpstr>
      <vt:lpstr>微软雅黑</vt:lpstr>
      <vt:lpstr>Arial</vt:lpstr>
      <vt:lpstr>Times New Roman</vt:lpstr>
      <vt:lpstr>Office 主题​​</vt:lpstr>
      <vt:lpstr>作业9：IR综合实践项目</vt:lpstr>
      <vt:lpstr>PowerPoint 演示文稿</vt:lpstr>
      <vt:lpstr>目的</vt:lpstr>
      <vt:lpstr>任务</vt:lpstr>
      <vt:lpstr>基本要求</vt:lpstr>
      <vt:lpstr>升级要求：</vt:lpstr>
      <vt:lpstr>优化方案选项</vt:lpstr>
      <vt:lpstr>优化方案选项（2）</vt:lpstr>
      <vt:lpstr>一个deepseek指令样例</vt:lpstr>
      <vt:lpstr>优化方案选项（3）</vt:lpstr>
      <vt:lpstr>其它注意点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作业8：信息检索综合实践</dc:title>
  <dc:creator>gzx</dc:creator>
  <cp:lastModifiedBy>zhengxian gong</cp:lastModifiedBy>
  <cp:revision>34</cp:revision>
  <dcterms:created xsi:type="dcterms:W3CDTF">2022-05-19T15:27:45Z</dcterms:created>
  <dcterms:modified xsi:type="dcterms:W3CDTF">2026-05-26T05:54:08Z</dcterms:modified>
</cp:coreProperties>
</file>